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5"/>
  </p:notesMasterIdLst>
  <p:sldIdLst>
    <p:sldId id="316" r:id="rId5"/>
    <p:sldId id="317" r:id="rId6"/>
    <p:sldId id="318" r:id="rId7"/>
    <p:sldId id="326" r:id="rId8"/>
    <p:sldId id="320" r:id="rId9"/>
    <p:sldId id="321" r:id="rId10"/>
    <p:sldId id="322" r:id="rId11"/>
    <p:sldId id="327" r:id="rId12"/>
    <p:sldId id="324" r:id="rId13"/>
    <p:sldId id="32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1C1B7E-6AC5-4D54-A524-3D52D96BFB31}" v="8" dt="2026-06-28T06:23:58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5226" autoAdjust="0"/>
  </p:normalViewPr>
  <p:slideViewPr>
    <p:cSldViewPr snapToGrid="0">
      <p:cViewPr varScale="1">
        <p:scale>
          <a:sx n="84" d="100"/>
          <a:sy n="84" d="100"/>
        </p:scale>
        <p:origin x="351" y="42"/>
      </p:cViewPr>
      <p:guideLst/>
    </p:cSldViewPr>
  </p:slideViewPr>
  <p:outlineViewPr>
    <p:cViewPr>
      <p:scale>
        <a:sx n="33" d="100"/>
        <a:sy n="33" d="100"/>
      </p:scale>
      <p:origin x="0" y="-31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B1857-7F2F-4FA5-AC91-CA6CB406E5ED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1AFB1-1A0D-4465-9C69-5C319B14D7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27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3A8F-B976-406D-827A-8714EFF80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159" y="1348536"/>
            <a:ext cx="4076458" cy="3654827"/>
          </a:xfrm>
        </p:spPr>
        <p:txBody>
          <a:bodyPr anchor="b">
            <a:normAutofit/>
          </a:bodyPr>
          <a:lstStyle>
            <a:lvl1pPr algn="r">
              <a:def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4851079-28FC-41AF-8373-BD8382DEDA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159" y="5170453"/>
            <a:ext cx="4076458" cy="990197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  <a:cs typeface="Calibri"/>
              </a:rPr>
              <a:t>Click to edit master text style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D6C3907-3C68-4C02-98EE-B36817B376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7025" y="0"/>
            <a:ext cx="6734974" cy="6858001"/>
          </a:xfrm>
          <a:custGeom>
            <a:avLst/>
            <a:gdLst>
              <a:gd name="connsiteX0" fmla="*/ 1 w 6734974"/>
              <a:gd name="connsiteY0" fmla="*/ 6292661 h 6858001"/>
              <a:gd name="connsiteX1" fmla="*/ 6734974 w 6734974"/>
              <a:gd name="connsiteY1" fmla="*/ 6292661 h 6858001"/>
              <a:gd name="connsiteX2" fmla="*/ 6734974 w 6734974"/>
              <a:gd name="connsiteY2" fmla="*/ 6858001 h 6858001"/>
              <a:gd name="connsiteX3" fmla="*/ 1 w 6734974"/>
              <a:gd name="connsiteY3" fmla="*/ 6858001 h 6858001"/>
              <a:gd name="connsiteX4" fmla="*/ 0 w 6734974"/>
              <a:gd name="connsiteY4" fmla="*/ 0 h 6858001"/>
              <a:gd name="connsiteX5" fmla="*/ 6734973 w 6734974"/>
              <a:gd name="connsiteY5" fmla="*/ 0 h 6858001"/>
              <a:gd name="connsiteX6" fmla="*/ 6734973 w 6734974"/>
              <a:gd name="connsiteY6" fmla="*/ 6256019 h 6858001"/>
              <a:gd name="connsiteX7" fmla="*/ 0 w 6734974"/>
              <a:gd name="connsiteY7" fmla="*/ 625601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34974" h="6858001">
                <a:moveTo>
                  <a:pt x="1" y="6292661"/>
                </a:moveTo>
                <a:lnTo>
                  <a:pt x="6734974" y="6292661"/>
                </a:lnTo>
                <a:lnTo>
                  <a:pt x="6734974" y="6858001"/>
                </a:lnTo>
                <a:lnTo>
                  <a:pt x="1" y="6858001"/>
                </a:lnTo>
                <a:close/>
                <a:moveTo>
                  <a:pt x="0" y="0"/>
                </a:moveTo>
                <a:lnTo>
                  <a:pt x="6734973" y="0"/>
                </a:lnTo>
                <a:lnTo>
                  <a:pt x="6734973" y="6256019"/>
                </a:lnTo>
                <a:lnTo>
                  <a:pt x="0" y="62560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84E7FD-271C-4B10-826F-A323C479D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93159" y="6274339"/>
            <a:ext cx="113988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04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FE17E6-924C-47EE-8164-2CD1687C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572DC8-7C70-4BE2-9DB2-CFABD37F8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1965163"/>
          </a:xfrm>
        </p:spPr>
        <p:txBody>
          <a:bodyPr anchor="b">
            <a:normAutofit/>
          </a:bodyPr>
          <a:lstStyle>
            <a:lvl1pPr>
              <a:def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A9682C5-2804-43F9-B365-D5F853CEB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52550" y="539750"/>
            <a:ext cx="4281488" cy="24685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E5E2300-A2FB-4449-8855-6D21495825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4050" y="3835400"/>
            <a:ext cx="4281488" cy="24685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96BE-A34E-471B-A916-071966BC699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785751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040EA-B3B8-4EB9-BC7F-EB3DFF9597D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82D71-9E0A-4793-BA54-BEAEB7A3683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48A8E28-7873-4AFA-A619-0E497E018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2268" y="536567"/>
            <a:ext cx="5784867" cy="5784867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340" y="2446418"/>
            <a:ext cx="4434721" cy="1965163"/>
          </a:xfrm>
        </p:spPr>
        <p:txBody>
          <a:bodyPr anchor="ctr">
            <a:normAutofit/>
          </a:bodyPr>
          <a:lstStyle>
            <a:lvl1pPr algn="ctr">
              <a:defRPr lang="en-US" sz="45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536567"/>
            <a:ext cx="4518504" cy="5784867"/>
          </a:xfrm>
        </p:spPr>
        <p:txBody>
          <a:bodyPr anchor="ctr">
            <a:normAutofit/>
          </a:bodyPr>
          <a:lstStyle>
            <a:lvl1pPr marL="0" indent="0">
              <a:lnSpc>
                <a:spcPts val="2500"/>
              </a:lnSpc>
              <a:buNone/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sp>
        <p:nvSpPr>
          <p:cNvPr id="4" name="Graphic 13">
            <a:extLst>
              <a:ext uri="{FF2B5EF4-FFF2-40B4-BE49-F238E27FC236}">
                <a16:creationId xmlns:a16="http://schemas.microsoft.com/office/drawing/2014/main" id="{5EB0124E-1A8A-4EB1-A9CF-E273590B6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9945" y="351421"/>
            <a:ext cx="198609" cy="198609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2">
            <a:extLst>
              <a:ext uri="{FF2B5EF4-FFF2-40B4-BE49-F238E27FC236}">
                <a16:creationId xmlns:a16="http://schemas.microsoft.com/office/drawing/2014/main" id="{44654EA2-A648-4219-B093-1C05AE96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5883" y="5732852"/>
            <a:ext cx="130186" cy="130186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81C0EC89-A66C-4027-8FF0-F7605B506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223" y="1072473"/>
            <a:ext cx="182432" cy="182432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411FC072-5A30-4F87-8D5F-B58BC2023A9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785751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A406C42C-BE3A-4833-B0B7-357CE8FB62C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4E6E8B18-45E0-4925-8E5D-41F418C91E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F236E68-2CF8-44ED-939D-0302808CE8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370" cy="6858000"/>
          </a:xfrm>
          <a:custGeom>
            <a:avLst/>
            <a:gdLst>
              <a:gd name="connsiteX0" fmla="*/ 0 w 12188370"/>
              <a:gd name="connsiteY0" fmla="*/ 0 h 6858000"/>
              <a:gd name="connsiteX1" fmla="*/ 12188370 w 12188370"/>
              <a:gd name="connsiteY1" fmla="*/ 0 h 6858000"/>
              <a:gd name="connsiteX2" fmla="*/ 12188370 w 12188370"/>
              <a:gd name="connsiteY2" fmla="*/ 6858000 h 6858000"/>
              <a:gd name="connsiteX3" fmla="*/ 0 w 12188370"/>
              <a:gd name="connsiteY3" fmla="*/ 6858000 h 6858000"/>
              <a:gd name="connsiteX4" fmla="*/ 0 w 12188370"/>
              <a:gd name="connsiteY4" fmla="*/ 843875 h 6858000"/>
              <a:gd name="connsiteX5" fmla="*/ 8473201 w 12188370"/>
              <a:gd name="connsiteY5" fmla="*/ 843875 h 6858000"/>
              <a:gd name="connsiteX6" fmla="*/ 8473201 w 12188370"/>
              <a:gd name="connsiteY6" fmla="*/ 816443 h 6858000"/>
              <a:gd name="connsiteX7" fmla="*/ 0 w 12188370"/>
              <a:gd name="connsiteY7" fmla="*/ 8164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370" h="6858000">
                <a:moveTo>
                  <a:pt x="0" y="0"/>
                </a:moveTo>
                <a:lnTo>
                  <a:pt x="12188370" y="0"/>
                </a:lnTo>
                <a:lnTo>
                  <a:pt x="12188370" y="6858000"/>
                </a:lnTo>
                <a:lnTo>
                  <a:pt x="0" y="6858000"/>
                </a:lnTo>
                <a:lnTo>
                  <a:pt x="0" y="843875"/>
                </a:lnTo>
                <a:lnTo>
                  <a:pt x="8473201" y="843875"/>
                </a:lnTo>
                <a:lnTo>
                  <a:pt x="8473201" y="816443"/>
                </a:lnTo>
                <a:lnTo>
                  <a:pt x="0" y="8164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F3A8F-B976-406D-827A-8714EFF80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6275" y="2276439"/>
            <a:ext cx="9679448" cy="2868439"/>
          </a:xfrm>
        </p:spPr>
        <p:txBody>
          <a:bodyPr anchor="b">
            <a:noAutofit/>
          </a:bodyPr>
          <a:lstStyle>
            <a:lvl1pPr algn="l">
              <a:defRPr lang="en-US" sz="7200" b="1" kern="1200" cap="all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1D9E9B9-E0A7-4C75-946E-BBAEBCC2CA6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56275" y="5098254"/>
            <a:ext cx="9679449" cy="750259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C6873F-B921-4626-97A7-FD8E9398E4E7}"/>
              </a:ext>
            </a:extLst>
          </p:cNvPr>
          <p:cNvCxnSpPr>
            <a:cxnSpLocks/>
          </p:cNvCxnSpPr>
          <p:nvPr userDrawn="1"/>
        </p:nvCxnSpPr>
        <p:spPr>
          <a:xfrm flipH="1">
            <a:off x="-10886" y="821523"/>
            <a:ext cx="847320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raphic 13">
            <a:extLst>
              <a:ext uri="{FF2B5EF4-FFF2-40B4-BE49-F238E27FC236}">
                <a16:creationId xmlns:a16="http://schemas.microsoft.com/office/drawing/2014/main" id="{275D0799-1240-4A8C-98BF-96679D262568}"/>
              </a:ext>
            </a:extLst>
          </p:cNvPr>
          <p:cNvSpPr/>
          <p:nvPr userDrawn="1"/>
        </p:nvSpPr>
        <p:spPr>
          <a:xfrm>
            <a:off x="544954" y="2865643"/>
            <a:ext cx="146329" cy="157937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3F7A1898-37E9-4DF7-9E1E-A5D41681C6D9}"/>
              </a:ext>
            </a:extLst>
          </p:cNvPr>
          <p:cNvSpPr/>
          <p:nvPr userDrawn="1"/>
        </p:nvSpPr>
        <p:spPr>
          <a:xfrm>
            <a:off x="903734" y="3094942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DA49FC99-340D-4901-98CD-6C4D1941C969}"/>
              </a:ext>
            </a:extLst>
          </p:cNvPr>
          <p:cNvSpPr/>
          <p:nvPr userDrawn="1"/>
        </p:nvSpPr>
        <p:spPr>
          <a:xfrm>
            <a:off x="532920" y="3619230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7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,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4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395" y="1825625"/>
            <a:ext cx="100694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25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67D4E1F-D8DD-4ED2-8901-A47E93089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4820000"/>
          </a:xfrm>
        </p:spPr>
        <p:txBody>
          <a:bodyPr anchor="b">
            <a:normAutofit/>
          </a:bodyPr>
          <a:lstStyle>
            <a:lvl1pPr>
              <a:def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A9682C5-2804-43F9-B365-D5F853CEB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3301" y="299507"/>
            <a:ext cx="5221620" cy="62589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E19B6EE4-4480-4732-A518-32AAC2EC081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5377543"/>
            <a:ext cx="4434721" cy="978806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F28DA37-6556-4F96-9D80-0B084FB282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928D1E0-21A1-4EC2-B776-3F8703D3A0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0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B15A-5639-4D83-9CDE-B6FC231C5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24" y="346498"/>
            <a:ext cx="8117654" cy="1325563"/>
          </a:xfrm>
        </p:spPr>
        <p:txBody>
          <a:bodyPr>
            <a:normAutofit/>
          </a:bodyPr>
          <a:lstStyle>
            <a:lvl1pPr>
              <a:defRPr sz="54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AB6B174-300F-4F50-A575-00A13C1635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438" y="2006600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74E96A81-148E-486F-BEFA-3D3FDB0B41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4908" y="2006380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17F02522-1BD4-4AC9-BBCB-05010ECC0A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0378" y="2015722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E961DC1B-263A-48A8-89E6-541AC356E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27276" y="2006379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2C4443B1-A455-4AF9-BE87-A07EA91F85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724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EEC7D0BC-E2A5-4FBE-A334-D9FF80B0DD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8724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0CC80C9C-897F-4C36-8150-427548D8FF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4908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A621D1DC-4C76-4E2F-A56F-7D7C193776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4908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2DF3BDDA-6F5B-42F5-B623-12E87B1990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0378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332AD10F-DEDB-4199-BAF1-536999434B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10378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28F12227-FF8F-4C6B-910E-91A315DC22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5847" y="5017734"/>
            <a:ext cx="2285999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C71F03-1105-4059-948E-EE58B5878A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5847" y="5352052"/>
            <a:ext cx="2285999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D29C9-824B-4147-81C3-28968F4647D1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61988" y="613391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38C45-011A-48F8-A346-A07B1E830B4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505757" y="845343"/>
            <a:ext cx="363392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C46EB-807F-48CF-988B-E006AEC9992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8610600" y="616041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70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2 column (comparison slide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5">
            <a:extLst>
              <a:ext uri="{FF2B5EF4-FFF2-40B4-BE49-F238E27FC236}">
                <a16:creationId xmlns:a16="http://schemas.microsoft.com/office/drawing/2014/main" id="{AF89E921-750A-4005-BEC2-04B9514B2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3B378915-E570-47AE-8F85-FB8ED4A6C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4">
            <a:extLst>
              <a:ext uri="{FF2B5EF4-FFF2-40B4-BE49-F238E27FC236}">
                <a16:creationId xmlns:a16="http://schemas.microsoft.com/office/drawing/2014/main" id="{3AF1E926-D68F-4DC8-9F6D-C2C1576F9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66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28220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3282206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6815" y="1681163"/>
            <a:ext cx="329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6815" y="2505075"/>
            <a:ext cx="3298370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F0B73B7-7EF9-4436-8B85-AC6CB551C0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53841" y="1681163"/>
            <a:ext cx="329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12A1950-E837-4678-94B1-FA24467145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53841" y="2505075"/>
            <a:ext cx="3298370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C425DB15-1B5A-4780-98B4-C0921A42F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96A2980-FE4D-41BC-9B3F-DEC465C64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14">
            <a:extLst>
              <a:ext uri="{FF2B5EF4-FFF2-40B4-BE49-F238E27FC236}">
                <a16:creationId xmlns:a16="http://schemas.microsoft.com/office/drawing/2014/main" id="{2BBEE260-2DCA-4E68-9719-2D94DA793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6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95D367-78A2-47F5-B8D8-808AF3A34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11">
            <a:extLst>
              <a:ext uri="{FF2B5EF4-FFF2-40B4-BE49-F238E27FC236}">
                <a16:creationId xmlns:a16="http://schemas.microsoft.com/office/drawing/2014/main" id="{6109EF88-13AD-41C1-97AF-8C2772981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0">
            <a:extLst>
              <a:ext uri="{FF2B5EF4-FFF2-40B4-BE49-F238E27FC236}">
                <a16:creationId xmlns:a16="http://schemas.microsoft.com/office/drawing/2014/main" id="{45E9990E-4826-4D59-9C78-9A4A6CA11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2C717-2A7A-4268-8EAA-2647EC66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031"/>
            <a:ext cx="4984628" cy="1491339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FC668B-6914-4B3A-B7DF-20E1580B17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814530"/>
            <a:ext cx="4984628" cy="3359258"/>
          </a:xfrm>
        </p:spPr>
        <p:txBody>
          <a:bodyPr>
            <a:normAutofit/>
          </a:bodyPr>
          <a:lstStyle>
            <a:lvl1pPr marL="0" indent="0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407AA4-CC80-45E8-B78C-F0CF175638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4666" y="1678220"/>
            <a:ext cx="4267645" cy="4267645"/>
          </a:xfrm>
          <a:custGeom>
            <a:avLst/>
            <a:gdLst>
              <a:gd name="connsiteX0" fmla="*/ 2133823 w 4267645"/>
              <a:gd name="connsiteY0" fmla="*/ 0 h 4267645"/>
              <a:gd name="connsiteX1" fmla="*/ 4267645 w 4267645"/>
              <a:gd name="connsiteY1" fmla="*/ 2133823 h 4267645"/>
              <a:gd name="connsiteX2" fmla="*/ 2133823 w 4267645"/>
              <a:gd name="connsiteY2" fmla="*/ 4267645 h 4267645"/>
              <a:gd name="connsiteX3" fmla="*/ 0 w 4267645"/>
              <a:gd name="connsiteY3" fmla="*/ 2133823 h 4267645"/>
              <a:gd name="connsiteX4" fmla="*/ 2133823 w 4267645"/>
              <a:gd name="connsiteY4" fmla="*/ 0 h 426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7645" h="4267645">
                <a:moveTo>
                  <a:pt x="2133823" y="0"/>
                </a:moveTo>
                <a:cubicBezTo>
                  <a:pt x="3312299" y="0"/>
                  <a:pt x="4267645" y="955346"/>
                  <a:pt x="4267645" y="2133823"/>
                </a:cubicBezTo>
                <a:cubicBezTo>
                  <a:pt x="4267645" y="3312300"/>
                  <a:pt x="3312299" y="4267645"/>
                  <a:pt x="2133823" y="4267645"/>
                </a:cubicBezTo>
                <a:cubicBezTo>
                  <a:pt x="955346" y="4267645"/>
                  <a:pt x="0" y="3312300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8C582-BD9C-49F9-8097-36611CFF164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EACB3-0A23-4032-B5B1-266A253C2C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962190" y="623907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C0B42-8B5D-47B8-8E1E-5BAA45A847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61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CDB3-CB80-4B55-AA7A-C57DCAC8B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08" y="894110"/>
            <a:ext cx="5181735" cy="2534890"/>
          </a:xfrm>
        </p:spPr>
        <p:txBody>
          <a:bodyPr anchor="b">
            <a:noAutofit/>
          </a:bodyPr>
          <a:lstStyle>
            <a:lvl1pPr>
              <a:defRPr lang="en-US" sz="5400" b="1" kern="1200" spc="4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Graphic 13">
            <a:extLst>
              <a:ext uri="{FF2B5EF4-FFF2-40B4-BE49-F238E27FC236}">
                <a16:creationId xmlns:a16="http://schemas.microsoft.com/office/drawing/2014/main" id="{EFD46DF2-E81B-4E77-B06D-F09DC5853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9236" y="1606411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D044CC36-2EFF-44B0-90A3-986DACB7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8014" y="183570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15">
            <a:extLst>
              <a:ext uri="{FF2B5EF4-FFF2-40B4-BE49-F238E27FC236}">
                <a16:creationId xmlns:a16="http://schemas.microsoft.com/office/drawing/2014/main" id="{AAA3D090-A815-4AF9-88CE-94F0B7DD3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96" y="2060130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98169C0-3B43-43E5-AC66-3B5B27A466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04905" y="3728425"/>
            <a:ext cx="5181735" cy="253489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7F553A0-E179-4D32-97DB-0F36799679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30003" y="1856226"/>
            <a:ext cx="2040674" cy="2040674"/>
          </a:xfrm>
          <a:custGeom>
            <a:avLst/>
            <a:gdLst>
              <a:gd name="connsiteX0" fmla="*/ 1020337 w 2040674"/>
              <a:gd name="connsiteY0" fmla="*/ 0 h 2040674"/>
              <a:gd name="connsiteX1" fmla="*/ 2040674 w 2040674"/>
              <a:gd name="connsiteY1" fmla="*/ 1020337 h 2040674"/>
              <a:gd name="connsiteX2" fmla="*/ 1020337 w 2040674"/>
              <a:gd name="connsiteY2" fmla="*/ 2040674 h 2040674"/>
              <a:gd name="connsiteX3" fmla="*/ 0 w 2040674"/>
              <a:gd name="connsiteY3" fmla="*/ 1020337 h 2040674"/>
              <a:gd name="connsiteX4" fmla="*/ 1020337 w 2040674"/>
              <a:gd name="connsiteY4" fmla="*/ 0 h 204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0674" h="2040674">
                <a:moveTo>
                  <a:pt x="1020337" y="0"/>
                </a:moveTo>
                <a:cubicBezTo>
                  <a:pt x="1583854" y="0"/>
                  <a:pt x="2040674" y="456820"/>
                  <a:pt x="2040674" y="1020337"/>
                </a:cubicBezTo>
                <a:cubicBezTo>
                  <a:pt x="2040674" y="1583854"/>
                  <a:pt x="1583854" y="2040674"/>
                  <a:pt x="1020337" y="2040674"/>
                </a:cubicBezTo>
                <a:cubicBezTo>
                  <a:pt x="456820" y="2040674"/>
                  <a:pt x="0" y="1583854"/>
                  <a:pt x="0" y="1020337"/>
                </a:cubicBezTo>
                <a:cubicBezTo>
                  <a:pt x="0" y="456820"/>
                  <a:pt x="456820" y="0"/>
                  <a:pt x="102033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9BD1CE3-05F6-44F6-B6FB-EB60AB96BE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25160" y="0"/>
            <a:ext cx="2866840" cy="2925044"/>
          </a:xfrm>
          <a:custGeom>
            <a:avLst/>
            <a:gdLst>
              <a:gd name="connsiteX0" fmla="*/ 1437601 w 2866840"/>
              <a:gd name="connsiteY0" fmla="*/ 0 h 2925044"/>
              <a:gd name="connsiteX1" fmla="*/ 1488735 w 2866840"/>
              <a:gd name="connsiteY1" fmla="*/ 0 h 2925044"/>
              <a:gd name="connsiteX2" fmla="*/ 1612768 w 2866840"/>
              <a:gd name="connsiteY2" fmla="*/ 6263 h 2925044"/>
              <a:gd name="connsiteX3" fmla="*/ 2860554 w 2866840"/>
              <a:gd name="connsiteY3" fmla="*/ 1026775 h 2925044"/>
              <a:gd name="connsiteX4" fmla="*/ 2866840 w 2866840"/>
              <a:gd name="connsiteY4" fmla="*/ 1051223 h 2925044"/>
              <a:gd name="connsiteX5" fmla="*/ 2866840 w 2866840"/>
              <a:gd name="connsiteY5" fmla="*/ 1872530 h 2925044"/>
              <a:gd name="connsiteX6" fmla="*/ 2860554 w 2866840"/>
              <a:gd name="connsiteY6" fmla="*/ 1896978 h 2925044"/>
              <a:gd name="connsiteX7" fmla="*/ 1463168 w 2866840"/>
              <a:gd name="connsiteY7" fmla="*/ 2925044 h 2925044"/>
              <a:gd name="connsiteX8" fmla="*/ 0 w 2866840"/>
              <a:gd name="connsiteY8" fmla="*/ 1461877 h 2925044"/>
              <a:gd name="connsiteX9" fmla="*/ 1313568 w 2866840"/>
              <a:gd name="connsiteY9" fmla="*/ 6263 h 292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66840" h="2925044">
                <a:moveTo>
                  <a:pt x="1437601" y="0"/>
                </a:moveTo>
                <a:lnTo>
                  <a:pt x="1488735" y="0"/>
                </a:lnTo>
                <a:lnTo>
                  <a:pt x="1612768" y="6263"/>
                </a:lnTo>
                <a:cubicBezTo>
                  <a:pt x="2203017" y="66206"/>
                  <a:pt x="2689551" y="476982"/>
                  <a:pt x="2860554" y="1026775"/>
                </a:cubicBezTo>
                <a:lnTo>
                  <a:pt x="2866840" y="1051223"/>
                </a:lnTo>
                <a:lnTo>
                  <a:pt x="2866840" y="1872530"/>
                </a:lnTo>
                <a:lnTo>
                  <a:pt x="2860554" y="1896978"/>
                </a:lnTo>
                <a:cubicBezTo>
                  <a:pt x="2675300" y="2492588"/>
                  <a:pt x="2119737" y="2925044"/>
                  <a:pt x="1463168" y="2925044"/>
                </a:cubicBezTo>
                <a:cubicBezTo>
                  <a:pt x="655082" y="2925044"/>
                  <a:pt x="0" y="2269962"/>
                  <a:pt x="0" y="1461877"/>
                </a:cubicBezTo>
                <a:cubicBezTo>
                  <a:pt x="0" y="704296"/>
                  <a:pt x="575756" y="81192"/>
                  <a:pt x="1313568" y="626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6562173-D9DF-4B80-B41C-B2366D8F2C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65227" y="3267983"/>
            <a:ext cx="3726773" cy="3590017"/>
          </a:xfrm>
          <a:custGeom>
            <a:avLst/>
            <a:gdLst>
              <a:gd name="connsiteX0" fmla="*/ 2272751 w 3726773"/>
              <a:gd name="connsiteY0" fmla="*/ 0 h 3590017"/>
              <a:gd name="connsiteX1" fmla="*/ 3718432 w 3726773"/>
              <a:gd name="connsiteY1" fmla="*/ 518986 h 3590017"/>
              <a:gd name="connsiteX2" fmla="*/ 3726773 w 3726773"/>
              <a:gd name="connsiteY2" fmla="*/ 526567 h 3590017"/>
              <a:gd name="connsiteX3" fmla="*/ 3726773 w 3726773"/>
              <a:gd name="connsiteY3" fmla="*/ 3590017 h 3590017"/>
              <a:gd name="connsiteX4" fmla="*/ 422959 w 3726773"/>
              <a:gd name="connsiteY4" fmla="*/ 3590017 h 3590017"/>
              <a:gd name="connsiteX5" fmla="*/ 388150 w 3726773"/>
              <a:gd name="connsiteY5" fmla="*/ 3543469 h 3590017"/>
              <a:gd name="connsiteX6" fmla="*/ 0 w 3726773"/>
              <a:gd name="connsiteY6" fmla="*/ 2272752 h 3590017"/>
              <a:gd name="connsiteX7" fmla="*/ 2272751 w 3726773"/>
              <a:gd name="connsiteY7" fmla="*/ 0 h 359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26773" h="3590017">
                <a:moveTo>
                  <a:pt x="2272751" y="0"/>
                </a:moveTo>
                <a:cubicBezTo>
                  <a:pt x="2821903" y="0"/>
                  <a:pt x="3325566" y="194765"/>
                  <a:pt x="3718432" y="518986"/>
                </a:cubicBezTo>
                <a:lnTo>
                  <a:pt x="3726773" y="526567"/>
                </a:lnTo>
                <a:lnTo>
                  <a:pt x="3726773" y="3590017"/>
                </a:lnTo>
                <a:lnTo>
                  <a:pt x="422959" y="3590017"/>
                </a:lnTo>
                <a:lnTo>
                  <a:pt x="388150" y="3543469"/>
                </a:lnTo>
                <a:cubicBezTo>
                  <a:pt x="143093" y="3180735"/>
                  <a:pt x="0" y="2743454"/>
                  <a:pt x="0" y="2272752"/>
                </a:cubicBezTo>
                <a:cubicBezTo>
                  <a:pt x="0" y="1017546"/>
                  <a:pt x="1017546" y="0"/>
                  <a:pt x="227275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2CFE18B2-C456-4DF2-9D4C-6A9017A6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8ABD619-DC62-4FA6-8ABC-122A5C4B4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8A21E-0201-405E-A386-7A39F8F82F4E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301262" y="21822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6BABF-2A15-48FB-BA27-BC36B637FC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 rot="16200000">
            <a:off x="-762668" y="4999038"/>
            <a:ext cx="335280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1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5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76" r:id="rId4"/>
    <p:sldLayoutId id="2147483660" r:id="rId5"/>
    <p:sldLayoutId id="2147483680" r:id="rId6"/>
    <p:sldLayoutId id="2147483677" r:id="rId7"/>
    <p:sldLayoutId id="2147483665" r:id="rId8"/>
    <p:sldLayoutId id="2147483663" r:id="rId9"/>
    <p:sldLayoutId id="2147483679" r:id="rId10"/>
    <p:sldLayoutId id="2147483681" r:id="rId11"/>
    <p:sldLayoutId id="214748367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4F1D-F101-4E88-9698-51D314EF2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Pipeline for Loan Default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26762-2B23-4F53-9DBB-96441A2A5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sz="2000" b="1" dirty="0"/>
              <a:t>Sun Jie-Sheng, Jason</a:t>
            </a:r>
            <a:endParaRPr sz="2000" b="1" dirty="0"/>
          </a:p>
          <a:p>
            <a:r>
              <a:rPr sz="1300" dirty="0"/>
              <a:t>CS611 Machine Learning Engineering  Assignment 2</a:t>
            </a:r>
          </a:p>
        </p:txBody>
      </p:sp>
      <p:pic>
        <p:nvPicPr>
          <p:cNvPr id="5" name="Picture Placeholder 5" descr="Man in a safety vest looking up at a wall of stacked shipping containers. ">
            <a:extLst>
              <a:ext uri="{FF2B5EF4-FFF2-40B4-BE49-F238E27FC236}">
                <a16:creationId xmlns:a16="http://schemas.microsoft.com/office/drawing/2014/main" id="{B5F22C11-4FE3-4065-96C3-C3A1E470B97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56238" y="0"/>
            <a:ext cx="6735762" cy="6858000"/>
          </a:xfrm>
        </p:spPr>
      </p:pic>
    </p:spTree>
    <p:extLst>
      <p:ext uri="{BB962C8B-B14F-4D97-AF65-F5344CB8AC3E}">
        <p14:creationId xmlns:p14="http://schemas.microsoft.com/office/powerpoint/2010/main" val="191763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Univers (Headings)"/>
                <a:cs typeface="Arial" panose="020B0604020202020204" pitchFamily="34" charset="0"/>
              </a:rPr>
              <a:t>Business </a:t>
            </a:r>
            <a:r>
              <a:rPr lang="en-SG" sz="2800" dirty="0">
                <a:latin typeface="Univers (Headings)"/>
                <a:cs typeface="Arial" panose="020B0604020202020204" pitchFamily="34" charset="0"/>
              </a:rPr>
              <a:t>P</a:t>
            </a:r>
            <a:r>
              <a:rPr sz="2800" dirty="0" err="1">
                <a:latin typeface="Univers (Headings)"/>
                <a:cs typeface="Arial" panose="020B0604020202020204" pitchFamily="34" charset="0"/>
              </a:rPr>
              <a:t>roblem</a:t>
            </a:r>
            <a:r>
              <a:rPr sz="2800" dirty="0">
                <a:latin typeface="Univers (Headings)"/>
                <a:cs typeface="Arial" panose="020B0604020202020204" pitchFamily="34" charset="0"/>
              </a:rPr>
              <a:t>, </a:t>
            </a:r>
            <a:r>
              <a:rPr lang="en-SG" sz="2800" dirty="0">
                <a:latin typeface="Univers (Headings)"/>
                <a:cs typeface="Arial" panose="020B0604020202020204" pitchFamily="34" charset="0"/>
              </a:rPr>
              <a:t>O</a:t>
            </a:r>
            <a:r>
              <a:rPr sz="2800" dirty="0" err="1">
                <a:latin typeface="Univers (Headings)"/>
                <a:cs typeface="Arial" panose="020B0604020202020204" pitchFamily="34" charset="0"/>
              </a:rPr>
              <a:t>bjective</a:t>
            </a:r>
            <a:r>
              <a:rPr sz="2800" dirty="0">
                <a:latin typeface="Univers (Headings)"/>
                <a:cs typeface="Arial" panose="020B0604020202020204" pitchFamily="34" charset="0"/>
              </a:rPr>
              <a:t> &amp; </a:t>
            </a:r>
            <a:r>
              <a:rPr lang="en-SG" sz="2800" dirty="0">
                <a:latin typeface="Univers (Headings)"/>
                <a:cs typeface="Arial" panose="020B0604020202020204" pitchFamily="34" charset="0"/>
              </a:rPr>
              <a:t>S</a:t>
            </a:r>
            <a:r>
              <a:rPr sz="2800" dirty="0">
                <a:latin typeface="Univers (Headings)"/>
                <a:cs typeface="Arial" panose="020B0604020202020204" pitchFamily="34" charset="0"/>
              </a:rPr>
              <a:t>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7" y="1783080"/>
            <a:ext cx="10847169" cy="1240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 i="0" dirty="0">
                <a:latin typeface="Univers"/>
              </a:rPr>
              <a:t>Problem</a:t>
            </a:r>
            <a:r>
              <a:rPr lang="en-SG" sz="1600" b="1" i="0" dirty="0">
                <a:latin typeface="Univers"/>
              </a:rPr>
              <a:t>: </a:t>
            </a:r>
            <a:r>
              <a:rPr sz="1600" b="0" i="0" dirty="0">
                <a:latin typeface="Univers"/>
              </a:rPr>
              <a:t>Default is the biggest source of credit loss</a:t>
            </a:r>
            <a:r>
              <a:rPr lang="en-SG" sz="1600" b="0" i="0" dirty="0">
                <a:latin typeface="Univers"/>
              </a:rPr>
              <a:t>,</a:t>
            </a:r>
            <a:r>
              <a:rPr sz="1600" b="0" i="0" dirty="0">
                <a:latin typeface="Univers"/>
              </a:rPr>
              <a:t> it must be caught </a:t>
            </a:r>
            <a:r>
              <a:rPr sz="1600" i="0" dirty="0">
                <a:latin typeface="Univers"/>
              </a:rPr>
              <a:t>at the point of application</a:t>
            </a:r>
            <a:r>
              <a:rPr sz="1600" b="0" i="0" dirty="0">
                <a:latin typeface="Univers"/>
              </a:rPr>
              <a:t>. After approval, the loss is locked in.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 i="0" dirty="0">
                <a:latin typeface="Univers"/>
              </a:rPr>
              <a:t>Objective</a:t>
            </a:r>
            <a:r>
              <a:rPr lang="en-SG" sz="1600" b="1" i="0" dirty="0">
                <a:latin typeface="Univers"/>
              </a:rPr>
              <a:t>:</a:t>
            </a:r>
            <a:r>
              <a:rPr lang="en-SG" sz="1600" b="1" dirty="0">
                <a:latin typeface="Univers"/>
              </a:rPr>
              <a:t> </a:t>
            </a:r>
            <a:r>
              <a:rPr sz="1600" b="0" i="0" dirty="0">
                <a:latin typeface="Univers"/>
              </a:rPr>
              <a:t>Predict default</a:t>
            </a:r>
            <a:r>
              <a:rPr lang="en-SG" sz="1600" b="0" i="0" dirty="0">
                <a:latin typeface="Univers"/>
              </a:rPr>
              <a:t> probability</a:t>
            </a:r>
            <a:r>
              <a:rPr sz="1600" b="0" i="0" dirty="0">
                <a:latin typeface="Univers"/>
              </a:rPr>
              <a:t> at application. </a:t>
            </a:r>
            <a:endParaRPr lang="en-SG" sz="1600" b="0" i="0" dirty="0">
              <a:latin typeface="Univers"/>
            </a:endParaRP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 i="0" dirty="0">
                <a:latin typeface="Univers"/>
              </a:rPr>
              <a:t>Scope</a:t>
            </a:r>
            <a:r>
              <a:rPr lang="en-SG" sz="1600" b="1" i="0" dirty="0">
                <a:latin typeface="Univers"/>
              </a:rPr>
              <a:t>: </a:t>
            </a:r>
            <a:r>
              <a:rPr sz="1600" b="0" i="0" dirty="0">
                <a:latin typeface="Univers"/>
              </a:rPr>
              <a:t>Production</a:t>
            </a:r>
            <a:r>
              <a:rPr lang="en-SG" sz="1600" b="0" i="0" dirty="0">
                <a:latin typeface="Univers"/>
              </a:rPr>
              <a:t> end to end</a:t>
            </a:r>
            <a:r>
              <a:rPr sz="1600" b="0" i="0" dirty="0">
                <a:latin typeface="Univers"/>
              </a:rPr>
              <a:t> </a:t>
            </a:r>
            <a:r>
              <a:rPr sz="1600" i="0" dirty="0">
                <a:latin typeface="Univers"/>
              </a:rPr>
              <a:t>ML pipeline</a:t>
            </a:r>
            <a:endParaRPr sz="1600" b="0" i="0" dirty="0">
              <a:latin typeface="Univer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5537" y="4344536"/>
            <a:ext cx="352044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1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5848" y="4454263"/>
            <a:ext cx="3154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800" b="1" dirty="0">
                <a:latin typeface="Univers"/>
              </a:rPr>
              <a:t>12,500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848" y="5149208"/>
            <a:ext cx="3154680" cy="241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  <a:spcAft>
                <a:spcPts val="400"/>
              </a:spcAft>
            </a:pPr>
            <a:r>
              <a:rPr lang="en-SG" sz="1600" dirty="0">
                <a:latin typeface="Univers"/>
              </a:rPr>
              <a:t>Total Loans</a:t>
            </a:r>
            <a:endParaRPr sz="1600" dirty="0">
              <a:latin typeface="Univer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06288" y="4344536"/>
            <a:ext cx="352044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1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6599" y="4454264"/>
            <a:ext cx="3154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800" b="1" dirty="0">
                <a:latin typeface="Univers"/>
              </a:rPr>
              <a:t>28.9%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599" y="5149208"/>
            <a:ext cx="3154680" cy="241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  <a:spcAft>
                <a:spcPts val="400"/>
              </a:spcAft>
            </a:pPr>
            <a:r>
              <a:rPr lang="en-SG" sz="1600" b="0" dirty="0">
                <a:latin typeface="Univers"/>
              </a:rPr>
              <a:t>O</a:t>
            </a:r>
            <a:r>
              <a:rPr sz="1600" b="0" dirty="0" err="1">
                <a:latin typeface="Univers"/>
              </a:rPr>
              <a:t>bserved</a:t>
            </a:r>
            <a:r>
              <a:rPr sz="1600" b="0" dirty="0">
                <a:latin typeface="Univers"/>
              </a:rPr>
              <a:t> </a:t>
            </a:r>
            <a:r>
              <a:rPr lang="en-SG" sz="1600" dirty="0">
                <a:latin typeface="Univers"/>
              </a:rPr>
              <a:t>D</a:t>
            </a:r>
            <a:r>
              <a:rPr sz="1600" b="0" dirty="0" err="1">
                <a:latin typeface="Univers"/>
              </a:rPr>
              <a:t>efault</a:t>
            </a:r>
            <a:r>
              <a:rPr sz="1600" b="0" dirty="0">
                <a:latin typeface="Univers"/>
              </a:rPr>
              <a:t> </a:t>
            </a:r>
            <a:r>
              <a:rPr lang="en-SG" sz="1600" b="0" dirty="0">
                <a:latin typeface="Univers"/>
              </a:rPr>
              <a:t>R</a:t>
            </a:r>
            <a:r>
              <a:rPr sz="1600" b="0" dirty="0">
                <a:latin typeface="Univers"/>
              </a:rPr>
              <a:t>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7039" y="4344536"/>
            <a:ext cx="352044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1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47350" y="4454264"/>
            <a:ext cx="3154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800" b="1" dirty="0">
                <a:latin typeface="Univer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7350" y="5059359"/>
            <a:ext cx="3154680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  <a:spcAft>
                <a:spcPts val="400"/>
              </a:spcAft>
            </a:pPr>
            <a:r>
              <a:rPr lang="en-SG" sz="1600" b="0" dirty="0">
                <a:latin typeface="Univers"/>
              </a:rPr>
              <a:t>S</a:t>
            </a:r>
            <a:r>
              <a:rPr sz="1600" b="0" dirty="0" err="1">
                <a:latin typeface="Univers"/>
              </a:rPr>
              <a:t>ources</a:t>
            </a:r>
            <a:r>
              <a:rPr sz="1600" b="0" dirty="0">
                <a:latin typeface="Univers"/>
              </a:rPr>
              <a:t>: LMS, attributes, financials, clickstream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End-to-end ML </a:t>
            </a:r>
            <a:r>
              <a:rPr lang="en-SG" sz="2800" dirty="0"/>
              <a:t>P</a:t>
            </a:r>
            <a:r>
              <a:rPr sz="2800" dirty="0" err="1"/>
              <a:t>ipeline</a:t>
            </a:r>
            <a:r>
              <a:rPr sz="2800" dirty="0"/>
              <a:t> </a:t>
            </a:r>
            <a:r>
              <a:rPr lang="en-SG" sz="2800" dirty="0"/>
              <a:t>A</a:t>
            </a:r>
            <a:r>
              <a:rPr sz="2800" dirty="0" err="1"/>
              <a:t>rchitecture</a:t>
            </a:r>
            <a:endParaRPr sz="2800" dirty="0"/>
          </a:p>
        </p:txBody>
      </p:sp>
      <p:sp>
        <p:nvSpPr>
          <p:cNvPr id="3" name="Rounded Rectangle 2"/>
          <p:cNvSpPr/>
          <p:nvPr/>
        </p:nvSpPr>
        <p:spPr>
          <a:xfrm>
            <a:off x="841248" y="1298448"/>
            <a:ext cx="7360920" cy="420624"/>
          </a:xfrm>
          <a:prstGeom prst="roundRect">
            <a:avLst/>
          </a:prstGeom>
          <a:solidFill>
            <a:srgbClr val="FFFFFF"/>
          </a:solidFill>
          <a:ln w="1778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491358"/>
            <a:ext cx="70408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 dirty="0">
                <a:latin typeface="Univers"/>
              </a:rPr>
              <a:t>Orchestrated by Apache Airflow</a:t>
            </a:r>
            <a:endParaRPr sz="1100" b="0" i="0" dirty="0">
              <a:latin typeface="Univer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" y="1847088"/>
            <a:ext cx="1481328" cy="3611880"/>
          </a:xfrm>
          <a:prstGeom prst="roundRect">
            <a:avLst/>
          </a:prstGeom>
          <a:solidFill>
            <a:srgbClr val="E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956816"/>
            <a:ext cx="148132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dirty="0">
                <a:latin typeface="Univers"/>
              </a:rPr>
              <a:t>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847088"/>
            <a:ext cx="1298448" cy="3611880"/>
          </a:xfrm>
          <a:prstGeom prst="roundRect">
            <a:avLst/>
          </a:prstGeom>
          <a:solidFill>
            <a:srgbClr val="FB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1956816"/>
            <a:ext cx="1298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dirty="0">
                <a:latin typeface="Univers"/>
              </a:rPr>
              <a:t>BRONZE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0752" y="1847088"/>
            <a:ext cx="1298448" cy="3611880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30752" y="1956816"/>
            <a:ext cx="1298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dirty="0">
                <a:latin typeface="Univers"/>
              </a:rPr>
              <a:t>SILVER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9282" y="1892808"/>
            <a:ext cx="3200400" cy="361188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48874" y="1956817"/>
            <a:ext cx="216866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dirty="0">
                <a:latin typeface="Univers"/>
              </a:rPr>
              <a:t>GOLD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8972" y="1847088"/>
            <a:ext cx="3017520" cy="3611880"/>
          </a:xfrm>
          <a:prstGeom prst="roundRect">
            <a:avLst/>
          </a:prstGeom>
          <a:solidFill>
            <a:srgbClr val="E3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31936" y="1956816"/>
            <a:ext cx="261518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dirty="0">
                <a:latin typeface="Univers"/>
              </a:rPr>
              <a:t>ML PIPELINE</a:t>
            </a:r>
          </a:p>
        </p:txBody>
      </p:sp>
      <p:sp>
        <p:nvSpPr>
          <p:cNvPr id="15" name="Can 14"/>
          <p:cNvSpPr/>
          <p:nvPr/>
        </p:nvSpPr>
        <p:spPr>
          <a:xfrm>
            <a:off x="932688" y="2788920"/>
            <a:ext cx="1298448" cy="777240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0" i="0" dirty="0">
                <a:solidFill>
                  <a:srgbClr val="10013F"/>
                </a:solidFill>
                <a:latin typeface="Univers"/>
              </a:rPr>
              <a:t>LMS</a:t>
            </a:r>
          </a:p>
        </p:txBody>
      </p:sp>
      <p:sp>
        <p:nvSpPr>
          <p:cNvPr id="16" name="Can 15"/>
          <p:cNvSpPr/>
          <p:nvPr/>
        </p:nvSpPr>
        <p:spPr>
          <a:xfrm>
            <a:off x="932688" y="4160520"/>
            <a:ext cx="1298448" cy="868680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dirty="0">
                <a:solidFill>
                  <a:schemeClr val="tx1"/>
                </a:solidFill>
                <a:latin typeface="Univers"/>
              </a:rPr>
              <a:t>User features</a:t>
            </a:r>
          </a:p>
        </p:txBody>
      </p:sp>
      <p:sp>
        <p:nvSpPr>
          <p:cNvPr id="17" name="Can 16"/>
          <p:cNvSpPr/>
          <p:nvPr/>
        </p:nvSpPr>
        <p:spPr>
          <a:xfrm>
            <a:off x="2468880" y="2788920"/>
            <a:ext cx="1115568" cy="777240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>
                <a:solidFill>
                  <a:srgbClr val="10013F"/>
                </a:solidFill>
                <a:latin typeface="Univers"/>
              </a:rPr>
              <a:t>Raw
LMS</a:t>
            </a:r>
          </a:p>
        </p:txBody>
      </p:sp>
      <p:sp>
        <p:nvSpPr>
          <p:cNvPr id="18" name="Can 17"/>
          <p:cNvSpPr/>
          <p:nvPr/>
        </p:nvSpPr>
        <p:spPr>
          <a:xfrm>
            <a:off x="2468880" y="4160520"/>
            <a:ext cx="1115568" cy="777240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dirty="0">
                <a:solidFill>
                  <a:srgbClr val="10013F"/>
                </a:solidFill>
                <a:latin typeface="Univers"/>
              </a:rPr>
              <a:t>Raw
features</a:t>
            </a:r>
          </a:p>
        </p:txBody>
      </p:sp>
      <p:sp>
        <p:nvSpPr>
          <p:cNvPr id="19" name="Can 18"/>
          <p:cNvSpPr/>
          <p:nvPr/>
        </p:nvSpPr>
        <p:spPr>
          <a:xfrm>
            <a:off x="3822191" y="2788920"/>
            <a:ext cx="1115568" cy="777240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0" i="0" dirty="0">
                <a:solidFill>
                  <a:schemeClr val="tx1"/>
                </a:solidFill>
                <a:latin typeface="Univers"/>
              </a:rPr>
              <a:t>Clean
LMS</a:t>
            </a:r>
          </a:p>
        </p:txBody>
      </p:sp>
      <p:sp>
        <p:nvSpPr>
          <p:cNvPr id="20" name="Can 19"/>
          <p:cNvSpPr/>
          <p:nvPr/>
        </p:nvSpPr>
        <p:spPr>
          <a:xfrm>
            <a:off x="3822191" y="4160520"/>
            <a:ext cx="1115568" cy="777240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>
                <a:solidFill>
                  <a:srgbClr val="10013F"/>
                </a:solidFill>
                <a:latin typeface="Univers"/>
              </a:rPr>
              <a:t>Clean
features</a:t>
            </a:r>
          </a:p>
        </p:txBody>
      </p:sp>
      <p:sp>
        <p:nvSpPr>
          <p:cNvPr id="21" name="Can 20"/>
          <p:cNvSpPr/>
          <p:nvPr/>
        </p:nvSpPr>
        <p:spPr>
          <a:xfrm>
            <a:off x="5212080" y="4160520"/>
            <a:ext cx="1234440" cy="777240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 dirty="0">
                <a:solidFill>
                  <a:schemeClr val="tx1"/>
                </a:solidFill>
                <a:latin typeface="Univers"/>
              </a:rPr>
              <a:t>Feature
engineering</a:t>
            </a:r>
          </a:p>
        </p:txBody>
      </p:sp>
      <p:sp>
        <p:nvSpPr>
          <p:cNvPr id="22" name="Can 21"/>
          <p:cNvSpPr/>
          <p:nvPr/>
        </p:nvSpPr>
        <p:spPr>
          <a:xfrm>
            <a:off x="6830568" y="2115884"/>
            <a:ext cx="1325880" cy="731520"/>
          </a:xfrm>
          <a:prstGeom prst="can">
            <a:avLst>
              <a:gd name="adj" fmla="val 2189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0" i="0" dirty="0">
                <a:solidFill>
                  <a:schemeClr val="tx1"/>
                </a:solidFill>
                <a:latin typeface="Univers"/>
              </a:rPr>
              <a:t>Label Store</a:t>
            </a:r>
          </a:p>
        </p:txBody>
      </p:sp>
      <p:sp>
        <p:nvSpPr>
          <p:cNvPr id="23" name="Can 22"/>
          <p:cNvSpPr/>
          <p:nvPr/>
        </p:nvSpPr>
        <p:spPr>
          <a:xfrm>
            <a:off x="6830568" y="2862072"/>
            <a:ext cx="1325880" cy="731520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0" i="0" dirty="0">
                <a:solidFill>
                  <a:schemeClr val="tx1"/>
                </a:solidFill>
                <a:latin typeface="Univers"/>
              </a:rPr>
              <a:t>Feature Store</a:t>
            </a:r>
          </a:p>
        </p:txBody>
      </p:sp>
      <p:sp>
        <p:nvSpPr>
          <p:cNvPr id="25" name="Cube 24"/>
          <p:cNvSpPr/>
          <p:nvPr/>
        </p:nvSpPr>
        <p:spPr>
          <a:xfrm>
            <a:off x="10241280" y="859536"/>
            <a:ext cx="1005840" cy="868680"/>
          </a:xfrm>
          <a:prstGeom prst="cube">
            <a:avLst/>
          </a:prstGeom>
          <a:solidFill>
            <a:srgbClr val="100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Univers"/>
              </a:rPr>
              <a:t>Model
bank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2" y="2542032"/>
            <a:ext cx="914399" cy="64008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1" i="0" dirty="0">
                <a:solidFill>
                  <a:schemeClr val="tx1"/>
                </a:solidFill>
                <a:latin typeface="Univers"/>
              </a:rPr>
              <a:t>ML Train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60857" y="2542032"/>
            <a:ext cx="927278" cy="64008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1" i="0" dirty="0">
                <a:solidFill>
                  <a:schemeClr val="tx1"/>
                </a:solidFill>
                <a:latin typeface="Univers"/>
              </a:rPr>
              <a:t>ML Inference</a:t>
            </a:r>
          </a:p>
        </p:txBody>
      </p:sp>
      <p:sp>
        <p:nvSpPr>
          <p:cNvPr id="28" name="Can 27"/>
          <p:cNvSpPr/>
          <p:nvPr/>
        </p:nvSpPr>
        <p:spPr>
          <a:xfrm>
            <a:off x="6830568" y="3608260"/>
            <a:ext cx="1325880" cy="713232"/>
          </a:xfrm>
          <a:prstGeom prst="ca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SG" sz="900" b="0" i="0" dirty="0">
                <a:solidFill>
                  <a:schemeClr val="tx1"/>
                </a:solidFill>
                <a:latin typeface="Univers"/>
              </a:rPr>
              <a:t>Predictions</a:t>
            </a:r>
            <a:endParaRPr sz="900" b="0" i="0" dirty="0">
              <a:solidFill>
                <a:schemeClr val="tx1"/>
              </a:solidFill>
              <a:latin typeface="Univer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485632" y="4617720"/>
            <a:ext cx="914399" cy="621792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SG" sz="1000" b="1" i="0" dirty="0">
                <a:solidFill>
                  <a:schemeClr val="tx1"/>
                </a:solidFill>
                <a:latin typeface="Univers"/>
              </a:rPr>
              <a:t>Visualize</a:t>
            </a:r>
            <a:endParaRPr sz="1000" b="1" i="0" dirty="0">
              <a:solidFill>
                <a:schemeClr val="tx1"/>
              </a:solidFill>
              <a:latin typeface="Univer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948672" y="4617720"/>
            <a:ext cx="927278" cy="621792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1" i="0">
                <a:solidFill>
                  <a:schemeClr val="tx1"/>
                </a:solidFill>
                <a:latin typeface="Univers"/>
              </a:rPr>
              <a:t>Monitoring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31136" y="3172968"/>
            <a:ext cx="219456" cy="0"/>
          </a:xfrm>
          <a:prstGeom prst="line">
            <a:avLst/>
          </a:prstGeom>
          <a:ln w="1524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84448" y="3172968"/>
            <a:ext cx="219456" cy="0"/>
          </a:xfrm>
          <a:prstGeom prst="line">
            <a:avLst/>
          </a:prstGeom>
          <a:ln w="1524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1136" y="4572000"/>
            <a:ext cx="219456" cy="0"/>
          </a:xfrm>
          <a:prstGeom prst="line">
            <a:avLst/>
          </a:prstGeom>
          <a:ln w="1524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584448" y="4572000"/>
            <a:ext cx="219456" cy="0"/>
          </a:xfrm>
          <a:prstGeom prst="line">
            <a:avLst/>
          </a:prstGeom>
          <a:ln w="1524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937760" y="4572000"/>
            <a:ext cx="256032" cy="0"/>
          </a:xfrm>
          <a:prstGeom prst="line">
            <a:avLst/>
          </a:prstGeom>
          <a:ln w="1524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cxnSpLocks/>
            <a:stCxn id="25" idx="3"/>
          </p:cNvCxnSpPr>
          <p:nvPr/>
        </p:nvCxnSpPr>
        <p:spPr>
          <a:xfrm>
            <a:off x="10635615" y="1728216"/>
            <a:ext cx="8001" cy="813816"/>
          </a:xfrm>
          <a:prstGeom prst="line">
            <a:avLst/>
          </a:prstGeom>
          <a:ln w="1524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cxnSpLocks/>
          </p:cNvCxnSpPr>
          <p:nvPr/>
        </p:nvCxnSpPr>
        <p:spPr>
          <a:xfrm>
            <a:off x="10435171" y="4491824"/>
            <a:ext cx="0" cy="148856"/>
          </a:xfrm>
          <a:prstGeom prst="line">
            <a:avLst/>
          </a:prstGeom>
          <a:ln w="1524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cxnSpLocks/>
          </p:cNvCxnSpPr>
          <p:nvPr/>
        </p:nvCxnSpPr>
        <p:spPr>
          <a:xfrm>
            <a:off x="8939538" y="4512507"/>
            <a:ext cx="0" cy="105213"/>
          </a:xfrm>
          <a:prstGeom prst="line">
            <a:avLst/>
          </a:prstGeom>
          <a:ln w="1524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6AEE12A0-0398-A778-186E-CA6464824496}"/>
              </a:ext>
            </a:extLst>
          </p:cNvPr>
          <p:cNvCxnSpPr>
            <a:endCxn id="23" idx="2"/>
          </p:cNvCxnSpPr>
          <p:nvPr/>
        </p:nvCxnSpPr>
        <p:spPr>
          <a:xfrm rot="5400000" flipH="1" flipV="1">
            <a:off x="5980176" y="3694176"/>
            <a:ext cx="1316736" cy="384048"/>
          </a:xfrm>
          <a:prstGeom prst="bentConnector2">
            <a:avLst/>
          </a:prstGeom>
          <a:ln w="1524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F7980E-BB93-E213-DA42-D13DEC718AFD}"/>
              </a:ext>
            </a:extLst>
          </p:cNvPr>
          <p:cNvCxnSpPr>
            <a:stCxn id="19" idx="4"/>
          </p:cNvCxnSpPr>
          <p:nvPr/>
        </p:nvCxnSpPr>
        <p:spPr>
          <a:xfrm flipV="1">
            <a:off x="4937759" y="3172968"/>
            <a:ext cx="974604" cy="45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6038C49-D0E0-CEAC-FF96-2A3ABA97E674}"/>
              </a:ext>
            </a:extLst>
          </p:cNvPr>
          <p:cNvCxnSpPr>
            <a:cxnSpLocks/>
          </p:cNvCxnSpPr>
          <p:nvPr/>
        </p:nvCxnSpPr>
        <p:spPr>
          <a:xfrm flipV="1">
            <a:off x="5901004" y="2481644"/>
            <a:ext cx="0" cy="6913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B2A8FC4-58B6-27B5-8F5F-45B461A46B6A}"/>
              </a:ext>
            </a:extLst>
          </p:cNvPr>
          <p:cNvCxnSpPr>
            <a:endCxn id="22" idx="2"/>
          </p:cNvCxnSpPr>
          <p:nvPr/>
        </p:nvCxnSpPr>
        <p:spPr>
          <a:xfrm>
            <a:off x="5912363" y="2481644"/>
            <a:ext cx="918205" cy="0"/>
          </a:xfrm>
          <a:prstGeom prst="straightConnector1">
            <a:avLst/>
          </a:prstGeom>
          <a:ln w="1524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0A4433E-A04C-A34F-52C3-BCD054F96DCE}"/>
              </a:ext>
            </a:extLst>
          </p:cNvPr>
          <p:cNvCxnSpPr/>
          <p:nvPr/>
        </p:nvCxnSpPr>
        <p:spPr>
          <a:xfrm>
            <a:off x="8151876" y="3227832"/>
            <a:ext cx="1874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B1702E1-115F-A43D-F331-1AC9A4F7C5FF}"/>
              </a:ext>
            </a:extLst>
          </p:cNvPr>
          <p:cNvCxnSpPr/>
          <p:nvPr/>
        </p:nvCxnSpPr>
        <p:spPr>
          <a:xfrm flipV="1">
            <a:off x="8339327" y="2902226"/>
            <a:ext cx="0" cy="3256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618DF93-669F-FBDA-A32A-3D847A8A5575}"/>
              </a:ext>
            </a:extLst>
          </p:cNvPr>
          <p:cNvCxnSpPr>
            <a:stCxn id="22" idx="4"/>
          </p:cNvCxnSpPr>
          <p:nvPr/>
        </p:nvCxnSpPr>
        <p:spPr>
          <a:xfrm>
            <a:off x="8156448" y="2481644"/>
            <a:ext cx="1828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A8DCACC-8A24-5B99-A44C-BFABA8B43E0A}"/>
              </a:ext>
            </a:extLst>
          </p:cNvPr>
          <p:cNvCxnSpPr/>
          <p:nvPr/>
        </p:nvCxnSpPr>
        <p:spPr>
          <a:xfrm>
            <a:off x="8339327" y="2481644"/>
            <a:ext cx="0" cy="4603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62D7FA6-264C-1BC7-DFAC-D09C850E354C}"/>
              </a:ext>
            </a:extLst>
          </p:cNvPr>
          <p:cNvCxnSpPr/>
          <p:nvPr/>
        </p:nvCxnSpPr>
        <p:spPr>
          <a:xfrm>
            <a:off x="8339327" y="2902226"/>
            <a:ext cx="1463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21A1A724-75C7-3EC9-19AC-144B13EF2A60}"/>
              </a:ext>
            </a:extLst>
          </p:cNvPr>
          <p:cNvCxnSpPr>
            <a:endCxn id="25" idx="2"/>
          </p:cNvCxnSpPr>
          <p:nvPr/>
        </p:nvCxnSpPr>
        <p:spPr>
          <a:xfrm flipV="1">
            <a:off x="8939538" y="1402461"/>
            <a:ext cx="1301742" cy="113957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85349F7-3D31-4D1B-FB54-F5EA75F56BA4}"/>
              </a:ext>
            </a:extLst>
          </p:cNvPr>
          <p:cNvCxnSpPr>
            <a:cxnSpLocks/>
          </p:cNvCxnSpPr>
          <p:nvPr/>
        </p:nvCxnSpPr>
        <p:spPr>
          <a:xfrm>
            <a:off x="10635615" y="3182112"/>
            <a:ext cx="0" cy="7827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EBF70B6-E263-BBCE-D53C-9DD16DDDD376}"/>
              </a:ext>
            </a:extLst>
          </p:cNvPr>
          <p:cNvCxnSpPr>
            <a:cxnSpLocks/>
            <a:endCxn id="28" idx="4"/>
          </p:cNvCxnSpPr>
          <p:nvPr/>
        </p:nvCxnSpPr>
        <p:spPr>
          <a:xfrm flipH="1">
            <a:off x="8156448" y="3964876"/>
            <a:ext cx="2487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FA2FA48-5954-773D-2C45-A2542B01CD2F}"/>
              </a:ext>
            </a:extLst>
          </p:cNvPr>
          <p:cNvCxnSpPr>
            <a:cxnSpLocks/>
          </p:cNvCxnSpPr>
          <p:nvPr/>
        </p:nvCxnSpPr>
        <p:spPr>
          <a:xfrm>
            <a:off x="7493508" y="4321492"/>
            <a:ext cx="0" cy="1910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E166876-619F-28A6-C147-1D6C12C146E0}"/>
              </a:ext>
            </a:extLst>
          </p:cNvPr>
          <p:cNvCxnSpPr/>
          <p:nvPr/>
        </p:nvCxnSpPr>
        <p:spPr>
          <a:xfrm>
            <a:off x="7493508" y="4512507"/>
            <a:ext cx="144603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4A474F89-84E4-F250-EAED-2882D9A2CE7C}"/>
              </a:ext>
            </a:extLst>
          </p:cNvPr>
          <p:cNvCxnSpPr>
            <a:cxnSpLocks/>
          </p:cNvCxnSpPr>
          <p:nvPr/>
        </p:nvCxnSpPr>
        <p:spPr>
          <a:xfrm>
            <a:off x="7717535" y="4300809"/>
            <a:ext cx="0" cy="1910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FFC0877-5715-FF5C-F710-93243D70F050}"/>
              </a:ext>
            </a:extLst>
          </p:cNvPr>
          <p:cNvCxnSpPr>
            <a:cxnSpLocks/>
          </p:cNvCxnSpPr>
          <p:nvPr/>
        </p:nvCxnSpPr>
        <p:spPr>
          <a:xfrm>
            <a:off x="7717535" y="4491824"/>
            <a:ext cx="27176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060B9D13-B0C7-C9F8-E855-67CAB2A96C90}"/>
              </a:ext>
            </a:extLst>
          </p:cNvPr>
          <p:cNvCxnSpPr>
            <a:cxnSpLocks/>
          </p:cNvCxnSpPr>
          <p:nvPr/>
        </p:nvCxnSpPr>
        <p:spPr>
          <a:xfrm flipV="1">
            <a:off x="7493508" y="465719"/>
            <a:ext cx="0" cy="165016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DDF9B84-E5D7-D0F1-96EA-0BEC06DBE64C}"/>
              </a:ext>
            </a:extLst>
          </p:cNvPr>
          <p:cNvCxnSpPr/>
          <p:nvPr/>
        </p:nvCxnSpPr>
        <p:spPr>
          <a:xfrm>
            <a:off x="7493508" y="465719"/>
            <a:ext cx="42119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F396B9A-20DF-E558-FF1E-95B3DB408BB5}"/>
              </a:ext>
            </a:extLst>
          </p:cNvPr>
          <p:cNvCxnSpPr>
            <a:cxnSpLocks/>
          </p:cNvCxnSpPr>
          <p:nvPr/>
        </p:nvCxnSpPr>
        <p:spPr>
          <a:xfrm>
            <a:off x="11699776" y="465719"/>
            <a:ext cx="0" cy="44628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0E4DD51-97AA-003A-15A4-82F66C2F599B}"/>
              </a:ext>
            </a:extLst>
          </p:cNvPr>
          <p:cNvCxnSpPr/>
          <p:nvPr/>
        </p:nvCxnSpPr>
        <p:spPr>
          <a:xfrm flipH="1">
            <a:off x="10875950" y="4928616"/>
            <a:ext cx="829506" cy="9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800" dirty="0"/>
              <a:t>Dataset Split Design</a:t>
            </a:r>
            <a:endParaRPr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005840" y="2313432"/>
            <a:ext cx="31089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dirty="0">
                <a:solidFill>
                  <a:srgbClr val="FFFFFF"/>
                </a:solidFill>
                <a:latin typeface="Univers"/>
              </a:rPr>
              <a:t>Target leakage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0872" y="1763783"/>
            <a:ext cx="10430256" cy="1212385"/>
          </a:xfrm>
          <a:prstGeom prst="roundRect">
            <a:avLst/>
          </a:prstGeom>
          <a:solidFill>
            <a:srgbClr val="FFFFFF"/>
          </a:solidFill>
          <a:ln w="2032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lang="en-US" sz="1600" b="1" dirty="0">
                <a:solidFill>
                  <a:srgbClr val="FF1F85"/>
                </a:solidFill>
              </a:rPr>
              <a:t>•  Target leakage  -  </a:t>
            </a:r>
            <a:r>
              <a:rPr lang="en-US" sz="1600" dirty="0">
                <a:solidFill>
                  <a:srgbClr val="2B244A"/>
                </a:solidFill>
              </a:rPr>
              <a:t>label comes from the LMS only, no outcome fields. (overdue / paid / balance) </a:t>
            </a:r>
          </a:p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1A98FF"/>
                </a:solidFill>
              </a:rPr>
              <a:t>•  Temporal leakage  -  </a:t>
            </a:r>
            <a:r>
              <a:rPr lang="en-US" sz="1600" dirty="0">
                <a:solidFill>
                  <a:srgbClr val="2B244A"/>
                </a:solidFill>
              </a:rPr>
              <a:t>clickstream is aggregated strictly pre-loan-start, and the split is chronological by snapshot.</a:t>
            </a:r>
            <a:endParaRPr sz="1600" dirty="0"/>
          </a:p>
        </p:txBody>
      </p:sp>
      <p:cxnSp>
        <p:nvCxnSpPr>
          <p:cNvPr id="21" name="Connector 20"/>
          <p:cNvCxnSpPr/>
          <p:nvPr/>
        </p:nvCxnSpPr>
        <p:spPr>
          <a:xfrm>
            <a:off x="894705" y="4777303"/>
            <a:ext cx="10424160" cy="0"/>
          </a:xfrm>
          <a:prstGeom prst="line">
            <a:avLst/>
          </a:prstGeom>
          <a:ln w="1651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FB06D893-3453-F8A4-F287-33EF3FBBCCF3}"/>
              </a:ext>
            </a:extLst>
          </p:cNvPr>
          <p:cNvSpPr txBox="1"/>
          <p:nvPr/>
        </p:nvSpPr>
        <p:spPr>
          <a:xfrm>
            <a:off x="894705" y="3820155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10013F"/>
                </a:solidFill>
                <a:latin typeface="Univers"/>
              </a:rPr>
              <a:t>Chronological 70 / 10 / 10 / 10 split (by snapshot date)  -  OOT = most recent 10% (~2024-05 to 2024-06)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C058FB9-2F62-9BC2-CC8B-BBCA9CCBF05A}"/>
              </a:ext>
            </a:extLst>
          </p:cNvPr>
          <p:cNvSpPr/>
          <p:nvPr/>
        </p:nvSpPr>
        <p:spPr>
          <a:xfrm>
            <a:off x="880872" y="4196487"/>
            <a:ext cx="7361154" cy="42062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 err="1"/>
              <a:t>wq</a:t>
            </a:r>
            <a:endParaRPr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546BBDE-6101-0994-9E2B-55E86A507088}"/>
              </a:ext>
            </a:extLst>
          </p:cNvPr>
          <p:cNvSpPr txBox="1"/>
          <p:nvPr/>
        </p:nvSpPr>
        <p:spPr>
          <a:xfrm>
            <a:off x="880872" y="4269582"/>
            <a:ext cx="7361154" cy="2744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 dirty="0">
                <a:latin typeface="Univers"/>
              </a:rPr>
              <a:t>TRAIN</a:t>
            </a:r>
          </a:p>
          <a:p>
            <a:pPr algn="ctr">
              <a:spcAft>
                <a:spcPts val="400"/>
              </a:spcAft>
            </a:pPr>
            <a:r>
              <a:rPr sz="850" b="1" dirty="0">
                <a:latin typeface="Univers"/>
              </a:rPr>
              <a:t>6,282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E07D857-F58A-6BC3-2569-440F2FC6EA47}"/>
              </a:ext>
            </a:extLst>
          </p:cNvPr>
          <p:cNvSpPr/>
          <p:nvPr/>
        </p:nvSpPr>
        <p:spPr>
          <a:xfrm>
            <a:off x="8242026" y="4196487"/>
            <a:ext cx="1051091" cy="4206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A3F97FC-C395-C6CC-3B0C-D4177811A124}"/>
              </a:ext>
            </a:extLst>
          </p:cNvPr>
          <p:cNvSpPr txBox="1"/>
          <p:nvPr/>
        </p:nvSpPr>
        <p:spPr>
          <a:xfrm>
            <a:off x="8242026" y="4269582"/>
            <a:ext cx="1051091" cy="274434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 dirty="0">
                <a:latin typeface="Univers"/>
              </a:rPr>
              <a:t>VAL</a:t>
            </a:r>
          </a:p>
          <a:p>
            <a:pPr algn="ctr">
              <a:spcAft>
                <a:spcPts val="400"/>
              </a:spcAft>
            </a:pPr>
            <a:r>
              <a:rPr sz="850" b="1" dirty="0">
                <a:latin typeface="Univers"/>
              </a:rPr>
              <a:t>897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AF490B4-8E78-3FC9-706F-84631BAC5A0F}"/>
              </a:ext>
            </a:extLst>
          </p:cNvPr>
          <p:cNvSpPr/>
          <p:nvPr/>
        </p:nvSpPr>
        <p:spPr>
          <a:xfrm>
            <a:off x="9293117" y="4196487"/>
            <a:ext cx="1052263" cy="420624"/>
          </a:xfrm>
          <a:prstGeom prst="rect">
            <a:avLst/>
          </a:prstGeom>
          <a:solidFill>
            <a:srgbClr val="FF8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571D56C-5041-D154-C969-DBDAA29A8403}"/>
              </a:ext>
            </a:extLst>
          </p:cNvPr>
          <p:cNvSpPr txBox="1"/>
          <p:nvPr/>
        </p:nvSpPr>
        <p:spPr>
          <a:xfrm>
            <a:off x="9293117" y="4196487"/>
            <a:ext cx="1052263" cy="420624"/>
          </a:xfrm>
          <a:prstGeom prst="rect">
            <a:avLst/>
          </a:prstGeom>
          <a:solidFill>
            <a:schemeClr val="accent3"/>
          </a:solidFill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0013F"/>
                </a:solidFill>
                <a:latin typeface="Univers"/>
              </a:rPr>
              <a:t>TEST</a:t>
            </a:r>
          </a:p>
          <a:p>
            <a:pPr algn="ctr">
              <a:spcAft>
                <a:spcPts val="400"/>
              </a:spcAft>
            </a:pPr>
            <a:r>
              <a:rPr sz="850" b="1">
                <a:solidFill>
                  <a:srgbClr val="10013F"/>
                </a:solidFill>
                <a:latin typeface="Univers"/>
              </a:rPr>
              <a:t>898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BA9A90D-3B1F-A67C-BF79-89E6C364BECE}"/>
              </a:ext>
            </a:extLst>
          </p:cNvPr>
          <p:cNvSpPr/>
          <p:nvPr/>
        </p:nvSpPr>
        <p:spPr>
          <a:xfrm>
            <a:off x="10345380" y="4196487"/>
            <a:ext cx="1051091" cy="420624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1714C37-EC21-77AD-04B0-CEFF432317D6}"/>
              </a:ext>
            </a:extLst>
          </p:cNvPr>
          <p:cNvSpPr txBox="1"/>
          <p:nvPr/>
        </p:nvSpPr>
        <p:spPr>
          <a:xfrm>
            <a:off x="10345380" y="4269582"/>
            <a:ext cx="1051091" cy="274434"/>
          </a:xfrm>
          <a:prstGeom prst="rect">
            <a:avLst/>
          </a:prstGeom>
          <a:solidFill>
            <a:schemeClr val="accent6"/>
          </a:solidFill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 dirty="0">
                <a:latin typeface="Univers"/>
              </a:rPr>
              <a:t>OOT</a:t>
            </a:r>
          </a:p>
          <a:p>
            <a:pPr algn="ctr">
              <a:spcAft>
                <a:spcPts val="400"/>
              </a:spcAft>
            </a:pPr>
            <a:r>
              <a:rPr sz="850" b="1" dirty="0">
                <a:latin typeface="Univers"/>
              </a:rPr>
              <a:t>897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Model </a:t>
            </a:r>
            <a:r>
              <a:rPr lang="en-SG" sz="2800" dirty="0"/>
              <a:t>T</a:t>
            </a:r>
            <a:r>
              <a:rPr sz="2800" dirty="0"/>
              <a:t>raining &amp; </a:t>
            </a:r>
            <a:r>
              <a:rPr lang="en-SG" sz="2800" dirty="0"/>
              <a:t>S</a:t>
            </a:r>
            <a:r>
              <a:rPr sz="2800" dirty="0"/>
              <a:t>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486417"/>
            <a:ext cx="5349240" cy="4212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600" b="1" i="0" dirty="0">
                <a:solidFill>
                  <a:srgbClr val="10013F"/>
                </a:solidFill>
                <a:latin typeface="Univers"/>
              </a:rPr>
              <a:t>Training </a:t>
            </a:r>
            <a:r>
              <a:rPr lang="en-SG" sz="1600" b="1" i="0" dirty="0">
                <a:solidFill>
                  <a:srgbClr val="10013F"/>
                </a:solidFill>
                <a:latin typeface="Univers"/>
              </a:rPr>
              <a:t>S</a:t>
            </a:r>
            <a:r>
              <a:rPr sz="1600" b="1" i="0" dirty="0">
                <a:solidFill>
                  <a:srgbClr val="10013F"/>
                </a:solidFill>
                <a:latin typeface="Univers"/>
              </a:rPr>
              <a:t>et: </a:t>
            </a:r>
            <a:endParaRPr lang="en-SG" sz="1600" b="1" dirty="0">
              <a:solidFill>
                <a:srgbClr val="10013F"/>
              </a:solidFill>
              <a:latin typeface="Univers"/>
            </a:endParaRPr>
          </a:p>
          <a:p>
            <a:pPr marL="285750" indent="-285750">
              <a:lnSpc>
                <a:spcPct val="104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2B244A"/>
                </a:solidFill>
                <a:latin typeface="Univers"/>
              </a:rPr>
              <a:t>8,974 matured loans </a:t>
            </a:r>
            <a:endParaRPr lang="en-SG" sz="1600" b="0" i="0" dirty="0">
              <a:solidFill>
                <a:srgbClr val="2B244A"/>
              </a:solidFill>
              <a:latin typeface="Univers"/>
            </a:endParaRPr>
          </a:p>
          <a:p>
            <a:pPr marL="285750" indent="-285750">
              <a:lnSpc>
                <a:spcPct val="104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SG" sz="1600" b="0" i="0" dirty="0">
                <a:solidFill>
                  <a:srgbClr val="2B244A"/>
                </a:solidFill>
                <a:latin typeface="Univers"/>
              </a:rPr>
              <a:t>52 </a:t>
            </a:r>
            <a:r>
              <a:rPr sz="1600" b="0" i="0" dirty="0">
                <a:solidFill>
                  <a:srgbClr val="2B244A"/>
                </a:solidFill>
                <a:latin typeface="Univers"/>
              </a:rPr>
              <a:t>features </a:t>
            </a:r>
            <a:endParaRPr lang="en-SG" sz="1600" b="0" i="0" dirty="0">
              <a:solidFill>
                <a:srgbClr val="2B244A"/>
              </a:solidFill>
              <a:latin typeface="Univers"/>
            </a:endParaRPr>
          </a:p>
          <a:p>
            <a:pPr marL="285750" indent="-285750">
              <a:lnSpc>
                <a:spcPct val="104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latin typeface="Univers"/>
              </a:rPr>
              <a:t>28.9% default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600" b="1" i="0" dirty="0">
                <a:latin typeface="Univers"/>
              </a:rPr>
              <a:t>Candidates: </a:t>
            </a:r>
            <a:endParaRPr lang="en-SG" sz="1600" b="1" i="0" dirty="0">
              <a:latin typeface="Univers"/>
            </a:endParaRPr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Font typeface="+mj-lt"/>
              <a:buAutoNum type="arabicPeriod"/>
            </a:pPr>
            <a:r>
              <a:rPr sz="1600" b="0" i="0" dirty="0">
                <a:latin typeface="Univers"/>
              </a:rPr>
              <a:t>Log</a:t>
            </a:r>
            <a:r>
              <a:rPr lang="en-SG" sz="1600" b="0" i="0" dirty="0" err="1">
                <a:latin typeface="Univers"/>
              </a:rPr>
              <a:t>istic</a:t>
            </a:r>
            <a:r>
              <a:rPr lang="en-SG" sz="1600" b="0" i="0" dirty="0">
                <a:latin typeface="Univers"/>
              </a:rPr>
              <a:t> </a:t>
            </a:r>
            <a:r>
              <a:rPr sz="1600" b="0" i="0" dirty="0">
                <a:latin typeface="Univers"/>
              </a:rPr>
              <a:t>Reg</a:t>
            </a:r>
            <a:r>
              <a:rPr lang="en-SG" sz="1600" b="0" i="0" dirty="0" err="1">
                <a:latin typeface="Univers"/>
              </a:rPr>
              <a:t>ression</a:t>
            </a:r>
            <a:endParaRPr lang="en-SG" sz="1600" dirty="0">
              <a:latin typeface="Univers"/>
            </a:endParaRPr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Font typeface="+mj-lt"/>
              <a:buAutoNum type="arabicPeriod"/>
            </a:pPr>
            <a:r>
              <a:rPr sz="1600" b="0" i="0" dirty="0">
                <a:latin typeface="Univers"/>
              </a:rPr>
              <a:t>Decision Tree</a:t>
            </a:r>
            <a:endParaRPr lang="en-SG" sz="1600" b="0" i="0" dirty="0">
              <a:latin typeface="Univers"/>
            </a:endParaRPr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Font typeface="+mj-lt"/>
              <a:buAutoNum type="arabicPeriod"/>
            </a:pPr>
            <a:r>
              <a:rPr sz="1600" b="0" i="0" dirty="0">
                <a:latin typeface="Univers"/>
              </a:rPr>
              <a:t>Random Forest</a:t>
            </a:r>
            <a:endParaRPr lang="en-SG" sz="1600" b="0" i="0" dirty="0">
              <a:latin typeface="Univers"/>
            </a:endParaRPr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Font typeface="+mj-lt"/>
              <a:buAutoNum type="arabicPeriod"/>
            </a:pPr>
            <a:r>
              <a:rPr sz="1600" b="0" i="0" dirty="0" err="1">
                <a:latin typeface="Univers"/>
              </a:rPr>
              <a:t>XGBoost</a:t>
            </a:r>
            <a:endParaRPr sz="1600" b="0" i="0" dirty="0">
              <a:latin typeface="Univers"/>
            </a:endParaRP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600" b="1" i="0" dirty="0">
                <a:latin typeface="Univers"/>
              </a:rPr>
              <a:t>Preprocessing: </a:t>
            </a:r>
            <a:r>
              <a:rPr lang="en-SG" sz="1600" dirty="0">
                <a:latin typeface="Univers"/>
              </a:rPr>
              <a:t>M</a:t>
            </a:r>
            <a:r>
              <a:rPr sz="1600" b="0" i="0" dirty="0" err="1">
                <a:latin typeface="Univers"/>
              </a:rPr>
              <a:t>edian</a:t>
            </a:r>
            <a:r>
              <a:rPr sz="1600" b="0" i="0" dirty="0">
                <a:latin typeface="Univers"/>
              </a:rPr>
              <a:t>-impute </a:t>
            </a:r>
            <a:r>
              <a:rPr lang="en-SG" sz="1600" b="0" i="0" dirty="0">
                <a:latin typeface="Univers"/>
              </a:rPr>
              <a:t>missing values, </a:t>
            </a:r>
            <a:r>
              <a:rPr sz="1600" b="0" i="0" dirty="0" err="1">
                <a:latin typeface="Univers"/>
              </a:rPr>
              <a:t>scal</a:t>
            </a:r>
            <a:r>
              <a:rPr lang="en-SG" sz="1600" b="0" i="0" dirty="0" err="1">
                <a:latin typeface="Univers"/>
              </a:rPr>
              <a:t>ing</a:t>
            </a:r>
            <a:r>
              <a:rPr lang="en-SG" sz="1600" b="0" i="0" dirty="0">
                <a:latin typeface="Univers"/>
              </a:rPr>
              <a:t> </a:t>
            </a:r>
            <a:r>
              <a:rPr lang="en-SG" sz="1600" b="0" i="0" dirty="0" err="1">
                <a:latin typeface="Univers"/>
              </a:rPr>
              <a:t>numericals</a:t>
            </a:r>
            <a:r>
              <a:rPr lang="en-SG" sz="1600" b="0" i="0" dirty="0">
                <a:latin typeface="Univers"/>
              </a:rPr>
              <a:t> + </a:t>
            </a:r>
            <a:r>
              <a:rPr sz="1600" b="0" i="0" dirty="0">
                <a:latin typeface="Univers"/>
              </a:rPr>
              <a:t>one-hot</a:t>
            </a:r>
            <a:r>
              <a:rPr lang="en-SG" sz="1600" b="0" i="0" dirty="0">
                <a:latin typeface="Univers"/>
              </a:rPr>
              <a:t> encoding for categories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600" b="1" i="0" dirty="0">
                <a:latin typeface="Univers"/>
              </a:rPr>
              <a:t>Selection: </a:t>
            </a:r>
            <a:r>
              <a:rPr sz="1600" i="0" dirty="0">
                <a:latin typeface="Univers"/>
              </a:rPr>
              <a:t>Best by validation AUC  -&gt;  </a:t>
            </a:r>
            <a:r>
              <a:rPr sz="1600" i="0" dirty="0" err="1">
                <a:latin typeface="Univers"/>
              </a:rPr>
              <a:t>XGBoost</a:t>
            </a:r>
            <a:r>
              <a:rPr sz="1600" i="0" dirty="0">
                <a:latin typeface="Univers"/>
              </a:rPr>
              <a:t> (</a:t>
            </a:r>
            <a:r>
              <a:rPr sz="1600" i="0" dirty="0" err="1">
                <a:latin typeface="Univers"/>
              </a:rPr>
              <a:t>val</a:t>
            </a:r>
            <a:r>
              <a:rPr sz="1600" i="0" dirty="0">
                <a:latin typeface="Univers"/>
              </a:rPr>
              <a:t> 0.93, test 0.93, OOT 0.94).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5435000"/>
            <a:ext cx="5349240" cy="777240"/>
          </a:xfrm>
          <a:prstGeom prst="roundRect">
            <a:avLst/>
          </a:prstGeom>
          <a:solidFill>
            <a:srgbClr val="F2F0FF"/>
          </a:solidFill>
          <a:ln w="1270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62344" y="5509402"/>
            <a:ext cx="5029200" cy="4892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1600" b="1" i="0" dirty="0">
                <a:latin typeface="Univers"/>
              </a:rPr>
              <a:t>Model bank.  </a:t>
            </a:r>
            <a:r>
              <a:rPr sz="1600" b="0" i="0" dirty="0">
                <a:latin typeface="Univers"/>
              </a:rPr>
              <a:t>4 artefacts per run + </a:t>
            </a:r>
            <a:r>
              <a:rPr sz="1600" b="0" i="0" dirty="0" err="1">
                <a:latin typeface="Univers"/>
              </a:rPr>
              <a:t>manifest.json</a:t>
            </a:r>
            <a:r>
              <a:rPr sz="1600" b="0" i="0" dirty="0">
                <a:latin typeface="Univers"/>
              </a:rPr>
              <a:t> (metrics, feature schema, best model).</a:t>
            </a:r>
          </a:p>
        </p:txBody>
      </p:sp>
      <p:pic>
        <p:nvPicPr>
          <p:cNvPr id="8" name="Picture 7" descr="04_model_selection.png">
            <a:extLst>
              <a:ext uri="{FF2B5EF4-FFF2-40B4-BE49-F238E27FC236}">
                <a16:creationId xmlns:a16="http://schemas.microsoft.com/office/drawing/2014/main" id="{6E9E3AB0-AB96-1B8F-353D-8181D6582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0688"/>
            <a:ext cx="5074920" cy="3355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Inference &amp; </a:t>
            </a:r>
            <a:r>
              <a:rPr lang="en-SG" sz="2800" dirty="0"/>
              <a:t>M</a:t>
            </a:r>
            <a:r>
              <a:rPr sz="2800" dirty="0" err="1"/>
              <a:t>odel</a:t>
            </a:r>
            <a:r>
              <a:rPr sz="2800" dirty="0"/>
              <a:t> </a:t>
            </a:r>
            <a:r>
              <a:rPr lang="en-SG" sz="2800" dirty="0"/>
              <a:t>B</a:t>
            </a:r>
            <a:r>
              <a:rPr sz="2800" dirty="0" err="1"/>
              <a:t>ank</a:t>
            </a:r>
            <a:endParaRPr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841248" y="2286000"/>
            <a:ext cx="22860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b="1" dirty="0">
                <a:solidFill>
                  <a:schemeClr val="tx1"/>
                </a:solidFill>
              </a:rPr>
              <a:t>Model Bank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286000"/>
            <a:ext cx="21945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Champion Model</a:t>
            </a:r>
            <a:endParaRPr sz="16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0" y="2286000"/>
            <a:ext cx="22860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Inference</a:t>
            </a:r>
            <a:endParaRPr sz="16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03920" y="2286000"/>
            <a:ext cx="2834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Store predictions in Gold Layer</a:t>
            </a:r>
            <a:endParaRPr sz="1600" b="1" dirty="0">
              <a:solidFill>
                <a:schemeClr val="tx1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127248" y="2715768"/>
            <a:ext cx="283464" cy="0"/>
          </a:xfrm>
          <a:prstGeom prst="line">
            <a:avLst/>
          </a:prstGeom>
          <a:ln w="20320">
            <a:solidFill>
              <a:srgbClr val="5A64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23560" y="2715768"/>
            <a:ext cx="301752" cy="0"/>
          </a:xfrm>
          <a:prstGeom prst="line">
            <a:avLst/>
          </a:prstGeom>
          <a:ln w="20320">
            <a:solidFill>
              <a:srgbClr val="5A64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2715768"/>
            <a:ext cx="256032" cy="0"/>
          </a:xfrm>
          <a:prstGeom prst="line">
            <a:avLst/>
          </a:prstGeom>
          <a:ln w="20320">
            <a:solidFill>
              <a:srgbClr val="5A64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" y="3840480"/>
            <a:ext cx="516636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5840" y="4005072"/>
            <a:ext cx="237744" cy="237744"/>
          </a:xfrm>
          <a:prstGeom prst="ellipse">
            <a:avLst/>
          </a:prstGeom>
          <a:solidFill>
            <a:srgbClr val="81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3968496"/>
            <a:ext cx="4480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1600" b="1" dirty="0">
                <a:solidFill>
                  <a:srgbClr val="10013F"/>
                </a:solidFill>
                <a:latin typeface="Univers"/>
              </a:rPr>
              <a:t>Model Selection by Performance</a:t>
            </a:r>
            <a:endParaRPr sz="1600" b="1" dirty="0">
              <a:solidFill>
                <a:srgbClr val="10013F"/>
              </a:solidFill>
              <a:latin typeface="Univer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80"/>
            <a:ext cx="4526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dirty="0">
                <a:solidFill>
                  <a:srgbClr val="2B244A"/>
                </a:solidFill>
                <a:latin typeface="Univers"/>
              </a:rPr>
              <a:t>Manifest names the best model + feature columns. Load by reference.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840480"/>
            <a:ext cx="516636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79" y="4005072"/>
            <a:ext cx="237744" cy="237744"/>
          </a:xfrm>
          <a:prstGeom prst="ellipse">
            <a:avLst/>
          </a:prstGeom>
          <a:solidFill>
            <a:srgbClr val="81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3968496"/>
            <a:ext cx="4480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1600" b="1" dirty="0">
                <a:solidFill>
                  <a:srgbClr val="10013F"/>
                </a:solidFill>
                <a:latin typeface="Univers"/>
              </a:rPr>
              <a:t>Versioned</a:t>
            </a:r>
            <a:r>
              <a:rPr sz="1600" b="1" dirty="0">
                <a:solidFill>
                  <a:srgbClr val="10013F"/>
                </a:solidFill>
                <a:latin typeface="Univers"/>
              </a:rPr>
              <a:t> &amp; </a:t>
            </a:r>
            <a:r>
              <a:rPr lang="en-SG" sz="1600" b="1" dirty="0">
                <a:solidFill>
                  <a:srgbClr val="10013F"/>
                </a:solidFill>
                <a:latin typeface="Univers"/>
              </a:rPr>
              <a:t>R</a:t>
            </a:r>
            <a:r>
              <a:rPr sz="1600" b="1" dirty="0" err="1">
                <a:solidFill>
                  <a:srgbClr val="10013F"/>
                </a:solidFill>
                <a:latin typeface="Univers"/>
              </a:rPr>
              <a:t>eproducible</a:t>
            </a:r>
            <a:endParaRPr sz="1600" b="1" dirty="0">
              <a:solidFill>
                <a:srgbClr val="10013F"/>
              </a:solidFill>
              <a:latin typeface="Univer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0840" y="4297680"/>
            <a:ext cx="4526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dirty="0">
                <a:solidFill>
                  <a:srgbClr val="2B244A"/>
                </a:solidFill>
                <a:latin typeface="Univers"/>
              </a:rPr>
              <a:t>Timestamped model-bank runs.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983480"/>
            <a:ext cx="516636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40" y="5148072"/>
            <a:ext cx="237744" cy="237744"/>
          </a:xfrm>
          <a:prstGeom prst="ellipse">
            <a:avLst/>
          </a:prstGeom>
          <a:solidFill>
            <a:srgbClr val="81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371600" y="5111496"/>
            <a:ext cx="4480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10013F"/>
                </a:solidFill>
                <a:latin typeface="Univers"/>
              </a:rPr>
              <a:t>Schema-safe </a:t>
            </a:r>
            <a:r>
              <a:rPr lang="en-SG" sz="1600" b="1" dirty="0">
                <a:solidFill>
                  <a:srgbClr val="10013F"/>
                </a:solidFill>
                <a:latin typeface="Univers"/>
              </a:rPr>
              <a:t>S</a:t>
            </a:r>
            <a:r>
              <a:rPr sz="1600" b="1" dirty="0">
                <a:solidFill>
                  <a:srgbClr val="10013F"/>
                </a:solidFill>
                <a:latin typeface="Univers"/>
              </a:rPr>
              <a:t>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40680"/>
            <a:ext cx="4526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dirty="0">
                <a:solidFill>
                  <a:srgbClr val="2B244A"/>
                </a:solidFill>
                <a:latin typeface="Univers"/>
              </a:rPr>
              <a:t>Rows reindexed </a:t>
            </a:r>
            <a:r>
              <a:rPr lang="en-SG" sz="1200" dirty="0">
                <a:solidFill>
                  <a:srgbClr val="2B244A"/>
                </a:solidFill>
                <a:latin typeface="Univers"/>
              </a:rPr>
              <a:t>per model schema.</a:t>
            </a:r>
            <a:endParaRPr sz="1200" b="0" dirty="0">
              <a:solidFill>
                <a:srgbClr val="2B244A"/>
              </a:solidFill>
              <a:latin typeface="Univer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90488" y="4983480"/>
            <a:ext cx="516636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5079" y="5148072"/>
            <a:ext cx="237744" cy="237744"/>
          </a:xfrm>
          <a:prstGeom prst="ellipse">
            <a:avLst/>
          </a:prstGeom>
          <a:solidFill>
            <a:srgbClr val="81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5111496"/>
            <a:ext cx="4480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10013F"/>
                </a:solidFill>
                <a:latin typeface="Univers"/>
              </a:rPr>
              <a:t>Backfillable</a:t>
            </a:r>
            <a:endParaRPr sz="1600" b="1" dirty="0">
              <a:solidFill>
                <a:srgbClr val="10013F"/>
              </a:solidFill>
              <a:latin typeface="Univer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20840" y="5440680"/>
            <a:ext cx="4526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dirty="0">
                <a:solidFill>
                  <a:srgbClr val="2B244A"/>
                </a:solidFill>
                <a:latin typeface="Univers"/>
              </a:rPr>
              <a:t>Per-snapshot inference</a:t>
            </a:r>
            <a:r>
              <a:rPr lang="en-SG" sz="1200" dirty="0">
                <a:solidFill>
                  <a:srgbClr val="2B244A"/>
                </a:solidFill>
                <a:latin typeface="Univers"/>
              </a:rPr>
              <a:t>,</a:t>
            </a:r>
            <a:r>
              <a:rPr sz="1200" b="0" dirty="0">
                <a:solidFill>
                  <a:srgbClr val="2B244A"/>
                </a:solidFill>
                <a:latin typeface="Univers"/>
              </a:rPr>
              <a:t> backfill back-scores </a:t>
            </a:r>
            <a:r>
              <a:rPr lang="en-SG" sz="1200" dirty="0">
                <a:solidFill>
                  <a:srgbClr val="2B244A"/>
                </a:solidFill>
                <a:latin typeface="Univers"/>
              </a:rPr>
              <a:t>historical </a:t>
            </a:r>
            <a:r>
              <a:rPr lang="en-SG" sz="1200" b="0" dirty="0">
                <a:solidFill>
                  <a:srgbClr val="2B244A"/>
                </a:solidFill>
                <a:latin typeface="Univers"/>
              </a:rPr>
              <a:t>records</a:t>
            </a:r>
            <a:endParaRPr sz="1200" b="0" dirty="0">
              <a:solidFill>
                <a:srgbClr val="2B244A"/>
              </a:solidFill>
              <a:latin typeface="Univer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Monitoring  - </a:t>
            </a:r>
            <a:r>
              <a:rPr lang="en-SG" sz="2800" dirty="0"/>
              <a:t> M</a:t>
            </a:r>
            <a:r>
              <a:rPr sz="2800" dirty="0" err="1"/>
              <a:t>odel</a:t>
            </a:r>
            <a:r>
              <a:rPr sz="2800" dirty="0"/>
              <a:t> </a:t>
            </a:r>
            <a:r>
              <a:rPr lang="en-SG" sz="2800" dirty="0"/>
              <a:t>P</a:t>
            </a:r>
            <a:r>
              <a:rPr sz="2800" dirty="0" err="1"/>
              <a:t>erformance</a:t>
            </a:r>
            <a:r>
              <a:rPr sz="2800" dirty="0"/>
              <a:t> </a:t>
            </a:r>
            <a:r>
              <a:rPr lang="en-SG" sz="2800" dirty="0"/>
              <a:t>O</a:t>
            </a:r>
            <a:r>
              <a:rPr sz="2800" dirty="0" err="1"/>
              <a:t>ver</a:t>
            </a:r>
            <a:r>
              <a:rPr sz="2800" dirty="0"/>
              <a:t> </a:t>
            </a:r>
            <a:r>
              <a:rPr lang="en-SG" sz="2800" dirty="0"/>
              <a:t>T</a:t>
            </a:r>
            <a:r>
              <a:rPr sz="2800" dirty="0" err="1"/>
              <a:t>ime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8549639" y="2011680"/>
            <a:ext cx="3275085" cy="3157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latin typeface="Univers"/>
              </a:rPr>
              <a:t>What we track</a:t>
            </a:r>
            <a:r>
              <a:rPr lang="en-SG" sz="1600" b="1" dirty="0">
                <a:latin typeface="Univers"/>
              </a:rPr>
              <a:t>:</a:t>
            </a:r>
            <a:endParaRPr sz="1600" b="1" dirty="0">
              <a:latin typeface="Univers"/>
            </a:endParaRPr>
          </a:p>
          <a:p>
            <a:pPr marL="285750" indent="-285750">
              <a:lnSpc>
                <a:spcPct val="10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814DFF"/>
                </a:solidFill>
              </a:rPr>
              <a:t>ROC-AUC</a:t>
            </a:r>
            <a:r>
              <a:rPr lang="en-US" sz="1600" dirty="0">
                <a:solidFill>
                  <a:srgbClr val="2B244A"/>
                </a:solidFill>
              </a:rPr>
              <a:t> - model evaluation (ranking power).</a:t>
            </a:r>
          </a:p>
          <a:p>
            <a:pPr marL="285750" indent="-285750">
              <a:lnSpc>
                <a:spcPct val="10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PSI</a:t>
            </a:r>
            <a:r>
              <a:rPr lang="en-US" sz="1600" dirty="0">
                <a:solidFill>
                  <a:srgbClr val="2B244A"/>
                </a:solidFill>
              </a:rPr>
              <a:t> - stability of the output scores.</a:t>
            </a:r>
          </a:p>
          <a:p>
            <a:pPr marL="285750" indent="-285750">
              <a:lnSpc>
                <a:spcPct val="104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9022"/>
                </a:solidFill>
              </a:rPr>
              <a:t>CSI</a:t>
            </a:r>
            <a:r>
              <a:rPr lang="en-US" sz="1600" dirty="0">
                <a:solidFill>
                  <a:srgbClr val="2B244A"/>
                </a:solidFill>
              </a:rPr>
              <a:t> - stability of the input features.</a:t>
            </a:r>
          </a:p>
          <a:p>
            <a:pPr>
              <a:spcAft>
                <a:spcPts val="500"/>
              </a:spcAft>
            </a:pPr>
            <a:r>
              <a:rPr sz="1600" b="1" dirty="0">
                <a:latin typeface="Univers"/>
              </a:rPr>
              <a:t>Reading the chart</a:t>
            </a:r>
            <a:r>
              <a:rPr lang="en-SG" sz="1600" b="1" dirty="0">
                <a:latin typeface="Univers"/>
              </a:rPr>
              <a:t>:</a:t>
            </a:r>
            <a:endParaRPr lang="en-SG" sz="1600" dirty="0">
              <a:latin typeface="Univers"/>
            </a:endParaRP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SG" sz="1600" i="0" dirty="0">
                <a:latin typeface="Univers"/>
              </a:rPr>
              <a:t>Focus on </a:t>
            </a:r>
            <a:r>
              <a:rPr lang="en-SG" sz="1600" dirty="0">
                <a:latin typeface="Univers"/>
              </a:rPr>
              <a:t>OOT time-frame.</a:t>
            </a:r>
            <a:endParaRPr sz="1600" i="0" dirty="0">
              <a:latin typeface="Univers"/>
            </a:endParaRPr>
          </a:p>
          <a:p>
            <a:pPr marL="171450" indent="-171450">
              <a:lnSpc>
                <a:spcPct val="104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600" i="0" dirty="0">
                <a:latin typeface="Univers"/>
              </a:rPr>
              <a:t>AUC holds </a:t>
            </a:r>
            <a:r>
              <a:rPr lang="en-SG" sz="1600" i="0" dirty="0">
                <a:latin typeface="Univers"/>
              </a:rPr>
              <a:t>&gt;0.90, good at generalizing</a:t>
            </a:r>
            <a:r>
              <a:rPr sz="1600" i="0" dirty="0">
                <a:latin typeface="Univers"/>
              </a:rPr>
              <a:t>.</a:t>
            </a:r>
          </a:p>
        </p:txBody>
      </p:sp>
      <p:pic>
        <p:nvPicPr>
          <p:cNvPr id="6" name="Picture 5" descr="01_discrimination_over_time.png">
            <a:extLst>
              <a:ext uri="{FF2B5EF4-FFF2-40B4-BE49-F238E27FC236}">
                <a16:creationId xmlns:a16="http://schemas.microsoft.com/office/drawing/2014/main" id="{27B3B7AE-4C3A-7BF4-DA93-436046DB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9895"/>
            <a:ext cx="7543800" cy="35906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Monitoring  -  </a:t>
            </a:r>
            <a:r>
              <a:rPr lang="en-SG" sz="2800" dirty="0"/>
              <a:t>S</a:t>
            </a:r>
            <a:r>
              <a:rPr sz="2800" dirty="0" err="1"/>
              <a:t>tability</a:t>
            </a:r>
            <a:r>
              <a:rPr sz="2800" dirty="0"/>
              <a:t> &amp; </a:t>
            </a:r>
            <a:r>
              <a:rPr lang="en-SG" sz="2800" dirty="0"/>
              <a:t>D</a:t>
            </a:r>
            <a:r>
              <a:rPr sz="2800" dirty="0"/>
              <a:t>rift</a:t>
            </a:r>
          </a:p>
        </p:txBody>
      </p:sp>
      <p:pic>
        <p:nvPicPr>
          <p:cNvPr id="4" name="Picture 3" descr="03_volume_and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069080"/>
            <a:ext cx="5440680" cy="2172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9838" y="1828800"/>
            <a:ext cx="506444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10013F"/>
                </a:solidFill>
                <a:latin typeface="Univers"/>
              </a:rPr>
              <a:t>PSI (</a:t>
            </a:r>
            <a:r>
              <a:rPr lang="en-SG" sz="1300" b="1" dirty="0">
                <a:solidFill>
                  <a:srgbClr val="10013F"/>
                </a:solidFill>
                <a:latin typeface="Univers"/>
              </a:rPr>
              <a:t>Prediction</a:t>
            </a:r>
            <a:r>
              <a:rPr sz="1300" b="1" dirty="0">
                <a:solidFill>
                  <a:srgbClr val="10013F"/>
                </a:solidFill>
                <a:latin typeface="Univers"/>
              </a:rPr>
              <a:t>) &amp; CSI (</a:t>
            </a:r>
            <a:r>
              <a:rPr lang="en-SG" sz="1300" b="1" dirty="0">
                <a:solidFill>
                  <a:srgbClr val="10013F"/>
                </a:solidFill>
                <a:latin typeface="Univers"/>
              </a:rPr>
              <a:t>F</a:t>
            </a:r>
            <a:r>
              <a:rPr sz="1300" b="1" dirty="0" err="1">
                <a:solidFill>
                  <a:srgbClr val="10013F"/>
                </a:solidFill>
                <a:latin typeface="Univers"/>
              </a:rPr>
              <a:t>eatures</a:t>
            </a:r>
            <a:r>
              <a:rPr sz="1300" b="1" dirty="0">
                <a:solidFill>
                  <a:srgbClr val="10013F"/>
                </a:solidFill>
                <a:latin typeface="Univer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4160520"/>
            <a:ext cx="4846320" cy="17373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19838" y="4315968"/>
            <a:ext cx="4927282" cy="1854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latin typeface="Univers"/>
              </a:rPr>
              <a:t>Monitoring verdict</a:t>
            </a:r>
            <a:endParaRPr lang="en-SG" sz="1600" b="1" dirty="0">
              <a:latin typeface="Univers"/>
            </a:endParaRPr>
          </a:p>
          <a:p>
            <a:pPr>
              <a:spcAft>
                <a:spcPts val="400"/>
              </a:spcAft>
            </a:pPr>
            <a:r>
              <a:rPr lang="en-SG" sz="1600" dirty="0">
                <a:latin typeface="Univers"/>
              </a:rPr>
              <a:t>Since PSI shows that the prediction is drifting starting from July 2024, we should investigate and refresh on latest data to re-validate the model.</a:t>
            </a:r>
            <a:endParaRPr sz="1600" dirty="0">
              <a:latin typeface="Univers"/>
            </a:endParaRPr>
          </a:p>
          <a:p>
            <a:pPr>
              <a:lnSpc>
                <a:spcPct val="106000"/>
              </a:lnSpc>
            </a:pPr>
            <a:endParaRPr lang="en-SG" sz="1600" i="1" dirty="0">
              <a:latin typeface="Univers"/>
            </a:endParaRPr>
          </a:p>
          <a:p>
            <a:pPr>
              <a:lnSpc>
                <a:spcPct val="106000"/>
              </a:lnSpc>
            </a:pPr>
            <a:endParaRPr lang="en-SG" sz="1600" i="1" dirty="0">
              <a:latin typeface="Univers"/>
            </a:endParaRPr>
          </a:p>
          <a:p>
            <a:pPr>
              <a:lnSpc>
                <a:spcPct val="106000"/>
              </a:lnSpc>
            </a:pPr>
            <a:endParaRPr sz="1600" i="1" dirty="0">
              <a:latin typeface="Univers"/>
            </a:endParaRPr>
          </a:p>
        </p:txBody>
      </p:sp>
      <p:pic>
        <p:nvPicPr>
          <p:cNvPr id="9" name="Picture 8" descr="02_psi_stability_over_time.png">
            <a:extLst>
              <a:ext uri="{FF2B5EF4-FFF2-40B4-BE49-F238E27FC236}">
                <a16:creationId xmlns:a16="http://schemas.microsoft.com/office/drawing/2014/main" id="{52FA2220-437C-6CAA-7EC0-131080A93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83080"/>
            <a:ext cx="5440680" cy="217371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9B5FD9-2012-8E1B-DF94-7CAE61389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634951"/>
              </p:ext>
            </p:extLst>
          </p:nvPr>
        </p:nvGraphicFramePr>
        <p:xfrm>
          <a:off x="6319838" y="2197814"/>
          <a:ext cx="4927284" cy="1737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821">
                  <a:extLst>
                    <a:ext uri="{9D8B030D-6E8A-4147-A177-3AD203B41FA5}">
                      <a16:colId xmlns:a16="http://schemas.microsoft.com/office/drawing/2014/main" val="2984012016"/>
                    </a:ext>
                  </a:extLst>
                </a:gridCol>
                <a:gridCol w="1231821">
                  <a:extLst>
                    <a:ext uri="{9D8B030D-6E8A-4147-A177-3AD203B41FA5}">
                      <a16:colId xmlns:a16="http://schemas.microsoft.com/office/drawing/2014/main" val="3656730451"/>
                    </a:ext>
                  </a:extLst>
                </a:gridCol>
                <a:gridCol w="1231821">
                  <a:extLst>
                    <a:ext uri="{9D8B030D-6E8A-4147-A177-3AD203B41FA5}">
                      <a16:colId xmlns:a16="http://schemas.microsoft.com/office/drawing/2014/main" val="1604984406"/>
                    </a:ext>
                  </a:extLst>
                </a:gridCol>
                <a:gridCol w="1231821">
                  <a:extLst>
                    <a:ext uri="{9D8B030D-6E8A-4147-A177-3AD203B41FA5}">
                      <a16:colId xmlns:a16="http://schemas.microsoft.com/office/drawing/2014/main" val="186685610"/>
                    </a:ext>
                  </a:extLst>
                </a:gridCol>
              </a:tblGrid>
              <a:tr h="460602">
                <a:tc>
                  <a:txBody>
                    <a:bodyPr/>
                    <a:lstStyle/>
                    <a:p>
                      <a:r>
                        <a:rPr lang="en-SG" sz="1600" dirty="0"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CSI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265700"/>
                  </a:ext>
                </a:extLst>
              </a:tr>
              <a:tr h="460602">
                <a:tc>
                  <a:txBody>
                    <a:bodyPr/>
                    <a:lstStyle/>
                    <a:p>
                      <a:r>
                        <a:rPr lang="en-SG" sz="1600" dirty="0"/>
                        <a:t>&lt; 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Low Risk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SG" sz="1600" dirty="0"/>
                        <a:t>PSI breaks above 0.25 on July 2024</a:t>
                      </a:r>
                    </a:p>
                  </a:txBody>
                  <a:tcPr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SG" sz="1600" dirty="0"/>
                        <a:t>CSI remains stable below 0.05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57700"/>
                  </a:ext>
                </a:extLst>
              </a:tr>
              <a:tr h="460602">
                <a:tc>
                  <a:txBody>
                    <a:bodyPr/>
                    <a:lstStyle/>
                    <a:p>
                      <a:r>
                        <a:rPr lang="en-SG" sz="1600" dirty="0"/>
                        <a:t>0.1 to 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Moderate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102207"/>
                  </a:ext>
                </a:extLst>
              </a:tr>
              <a:tr h="355553">
                <a:tc>
                  <a:txBody>
                    <a:bodyPr/>
                    <a:lstStyle/>
                    <a:p>
                      <a:r>
                        <a:rPr lang="en-SG" sz="1600" dirty="0"/>
                        <a:t>&gt; 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High Risk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825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Model </a:t>
            </a:r>
            <a:r>
              <a:rPr lang="en-SG" sz="2800" dirty="0"/>
              <a:t>G</a:t>
            </a:r>
            <a:r>
              <a:rPr sz="2800" dirty="0" err="1"/>
              <a:t>overnance</a:t>
            </a:r>
            <a:r>
              <a:rPr sz="2800" dirty="0"/>
              <a:t>, </a:t>
            </a:r>
            <a:r>
              <a:rPr lang="en-SG" sz="2800" dirty="0"/>
              <a:t>R</a:t>
            </a:r>
            <a:r>
              <a:rPr sz="2800" dirty="0" err="1"/>
              <a:t>efresh</a:t>
            </a:r>
            <a:r>
              <a:rPr sz="2800" dirty="0"/>
              <a:t> SO</a:t>
            </a:r>
            <a:r>
              <a:rPr lang="en-SG" sz="2800" dirty="0"/>
              <a:t>P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841248" y="1783080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10013F"/>
                </a:solidFill>
                <a:latin typeface="Univers"/>
              </a:rPr>
              <a:t>When and how to refresh the model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40280"/>
            <a:ext cx="5394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FF9022"/>
                </a:solidFill>
                <a:latin typeface="Univers"/>
              </a:rPr>
              <a:t>Refresh triggers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606040"/>
            <a:ext cx="53949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743533"/>
            <a:ext cx="15544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10013F"/>
                </a:solidFill>
                <a:latin typeface="Univers"/>
              </a:rPr>
              <a:t>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620422"/>
            <a:ext cx="356616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0" dirty="0">
                <a:solidFill>
                  <a:srgbClr val="2B244A"/>
                </a:solidFill>
                <a:latin typeface="Univers"/>
              </a:rPr>
              <a:t>PSI &gt; 0.25 sustained over 2</a:t>
            </a:r>
            <a:r>
              <a:rPr lang="en-SG" sz="1600" b="0" dirty="0">
                <a:solidFill>
                  <a:srgbClr val="2B244A"/>
                </a:solidFill>
                <a:latin typeface="Univers"/>
              </a:rPr>
              <a:t> or more</a:t>
            </a:r>
            <a:r>
              <a:rPr sz="1600" b="0" dirty="0">
                <a:solidFill>
                  <a:srgbClr val="2B244A"/>
                </a:solidFill>
                <a:latin typeface="Univers"/>
              </a:rPr>
              <a:t> snapshots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246120"/>
            <a:ext cx="53949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383613"/>
            <a:ext cx="15544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0013F"/>
                </a:solidFill>
                <a:latin typeface="Univers"/>
              </a:rP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260503"/>
            <a:ext cx="356616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0" dirty="0">
                <a:solidFill>
                  <a:srgbClr val="2B244A"/>
                </a:solidFill>
                <a:latin typeface="Univers"/>
              </a:rPr>
              <a:t>Out-of-time AUC drops &gt; 0.05 vs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886200"/>
            <a:ext cx="53949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692"/>
            <a:ext cx="15544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10013F"/>
                </a:solidFill>
                <a:latin typeface="Univers"/>
              </a:rPr>
              <a:t>Scheduled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900582"/>
            <a:ext cx="356616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0" dirty="0">
                <a:solidFill>
                  <a:srgbClr val="2B244A"/>
                </a:solidFill>
                <a:latin typeface="Univers"/>
              </a:rPr>
              <a:t>Quarterly retrain on latest matured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526279"/>
            <a:ext cx="53949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663773"/>
            <a:ext cx="15544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10013F"/>
                </a:solidFill>
                <a:latin typeface="Univers"/>
              </a:rPr>
              <a:t>Data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663773"/>
            <a:ext cx="3566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0" dirty="0">
                <a:solidFill>
                  <a:srgbClr val="2B244A"/>
                </a:solidFill>
                <a:latin typeface="Univers"/>
              </a:rPr>
              <a:t>Upstream schema / feature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1600" b="1" dirty="0">
                <a:solidFill>
                  <a:srgbClr val="FF9022"/>
                </a:solidFill>
                <a:latin typeface="Univers"/>
              </a:rPr>
              <a:t>Refresh SOP</a:t>
            </a:r>
            <a:endParaRPr sz="1600" b="1" dirty="0">
              <a:solidFill>
                <a:srgbClr val="FF9022"/>
              </a:solidFill>
              <a:latin typeface="Univer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46520" y="2606040"/>
            <a:ext cx="2743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tx1"/>
                </a:solidFill>
              </a:rPr>
              <a:t>Monitor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" y="3063240"/>
            <a:ext cx="0" cy="91440"/>
          </a:xfrm>
          <a:prstGeom prst="line">
            <a:avLst/>
          </a:prstGeom>
          <a:ln w="1524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46520" y="3154680"/>
            <a:ext cx="2743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tx1"/>
                </a:solidFill>
              </a:rPr>
              <a:t>Alert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18120" y="3611880"/>
            <a:ext cx="0" cy="91440"/>
          </a:xfrm>
          <a:prstGeom prst="line">
            <a:avLst/>
          </a:prstGeom>
          <a:ln w="1524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46520" y="3703320"/>
            <a:ext cx="2743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tx1"/>
                </a:solidFill>
              </a:rPr>
              <a:t>Validate &amp; retrain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18120" y="4160520"/>
            <a:ext cx="0" cy="91439"/>
          </a:xfrm>
          <a:prstGeom prst="line">
            <a:avLst/>
          </a:prstGeom>
          <a:ln w="1524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46520" y="4251959"/>
            <a:ext cx="2743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tx1"/>
                </a:solidFill>
              </a:rPr>
              <a:t>Champion / challenger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18120" y="4709159"/>
            <a:ext cx="0" cy="91440"/>
          </a:xfrm>
          <a:prstGeom prst="line">
            <a:avLst/>
          </a:prstGeom>
          <a:ln w="1524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46520" y="4800599"/>
            <a:ext cx="2788352" cy="4415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tx1"/>
                </a:solidFill>
              </a:rPr>
              <a:t>Promote &amp; redeploy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Technical </a:t>
            </a:r>
            <a:r>
              <a:rPr lang="en-SG" sz="2800" dirty="0"/>
              <a:t>I</a:t>
            </a:r>
            <a:r>
              <a:rPr sz="2800" dirty="0" err="1"/>
              <a:t>mplementation</a:t>
            </a:r>
            <a:r>
              <a:rPr sz="2800" dirty="0"/>
              <a:t> &amp; </a:t>
            </a:r>
            <a:r>
              <a:rPr lang="en-SG" sz="2800" dirty="0"/>
              <a:t>S</a:t>
            </a:r>
            <a:r>
              <a:rPr sz="2800" dirty="0" err="1"/>
              <a:t>ummary</a:t>
            </a:r>
            <a:endParaRPr sz="2800" dirty="0"/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3383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3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91056" y="19019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10013F"/>
                </a:solidFill>
                <a:latin typeface="Univers"/>
              </a:rPr>
              <a:t>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9296" y="2169565"/>
            <a:ext cx="2560320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1200" b="0" dirty="0">
                <a:solidFill>
                  <a:srgbClr val="6E6A85"/>
                </a:solidFill>
                <a:latin typeface="Univers"/>
              </a:rPr>
              <a:t>Portable, </a:t>
            </a:r>
            <a:r>
              <a:rPr lang="en-SG" sz="1200" b="0" dirty="0">
                <a:solidFill>
                  <a:srgbClr val="6E6A85"/>
                </a:solidFill>
                <a:latin typeface="Univers"/>
              </a:rPr>
              <a:t>R</a:t>
            </a:r>
            <a:r>
              <a:rPr sz="1200" b="0" dirty="0" err="1">
                <a:solidFill>
                  <a:srgbClr val="6E6A85"/>
                </a:solidFill>
                <a:latin typeface="Univers"/>
              </a:rPr>
              <a:t>eproducible</a:t>
            </a:r>
            <a:r>
              <a:rPr sz="1200" b="0" dirty="0">
                <a:solidFill>
                  <a:srgbClr val="6E6A85"/>
                </a:solidFill>
                <a:latin typeface="Univers"/>
              </a:rPr>
              <a:t> </a:t>
            </a:r>
            <a:r>
              <a:rPr lang="en-SG" sz="1200" b="0" dirty="0">
                <a:solidFill>
                  <a:srgbClr val="6E6A85"/>
                </a:solidFill>
                <a:latin typeface="Univers"/>
              </a:rPr>
              <a:t>E</a:t>
            </a:r>
            <a:r>
              <a:rPr sz="1200" b="0" dirty="0" err="1">
                <a:solidFill>
                  <a:srgbClr val="6E6A85"/>
                </a:solidFill>
                <a:latin typeface="Univers"/>
              </a:rPr>
              <a:t>nvironment</a:t>
            </a:r>
            <a:endParaRPr sz="1200" b="0" dirty="0">
              <a:solidFill>
                <a:srgbClr val="6E6A85"/>
              </a:solidFill>
              <a:latin typeface="Univer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07408" y="1783080"/>
            <a:ext cx="3383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1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06800" y="2092279"/>
            <a:ext cx="2560320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1200" b="0" dirty="0">
                <a:solidFill>
                  <a:srgbClr val="6E6A85"/>
                </a:solidFill>
                <a:latin typeface="Univers"/>
              </a:rPr>
              <a:t>Orchestration, </a:t>
            </a:r>
            <a:r>
              <a:rPr lang="en-SG" sz="1200" b="0" dirty="0">
                <a:solidFill>
                  <a:srgbClr val="6E6A85"/>
                </a:solidFill>
                <a:latin typeface="Univers"/>
              </a:rPr>
              <a:t>S</a:t>
            </a:r>
            <a:r>
              <a:rPr sz="1200" b="0" dirty="0" err="1">
                <a:solidFill>
                  <a:srgbClr val="6E6A85"/>
                </a:solidFill>
                <a:latin typeface="Univers"/>
              </a:rPr>
              <a:t>cheduling</a:t>
            </a:r>
            <a:r>
              <a:rPr sz="1200" b="0" dirty="0">
                <a:solidFill>
                  <a:srgbClr val="6E6A85"/>
                </a:solidFill>
                <a:latin typeface="Univers"/>
              </a:rPr>
              <a:t> &amp; </a:t>
            </a:r>
            <a:r>
              <a:rPr lang="en-SG" sz="1200" b="0" dirty="0">
                <a:solidFill>
                  <a:srgbClr val="6E6A85"/>
                </a:solidFill>
                <a:latin typeface="Univers"/>
              </a:rPr>
              <a:t>B</a:t>
            </a:r>
            <a:r>
              <a:rPr sz="1200" b="0" dirty="0" err="1">
                <a:solidFill>
                  <a:srgbClr val="6E6A85"/>
                </a:solidFill>
                <a:latin typeface="Univers"/>
              </a:rPr>
              <a:t>ackfill</a:t>
            </a:r>
            <a:endParaRPr sz="1200" b="0" dirty="0">
              <a:solidFill>
                <a:srgbClr val="6E6A85"/>
              </a:solidFill>
              <a:latin typeface="Univer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73568" y="1783080"/>
            <a:ext cx="3383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9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23376" y="19019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10013F"/>
                </a:solidFill>
                <a:latin typeface="Univers"/>
              </a:rPr>
              <a:t>PySpark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376" y="2221991"/>
            <a:ext cx="2560320" cy="175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lang="en-SG" sz="1200" b="0" dirty="0">
                <a:solidFill>
                  <a:srgbClr val="6E6A85"/>
                </a:solidFill>
                <a:latin typeface="Univers"/>
              </a:rPr>
              <a:t>Scaling for </a:t>
            </a:r>
            <a:r>
              <a:rPr lang="en-SG" sz="1200" dirty="0">
                <a:solidFill>
                  <a:srgbClr val="6E6A85"/>
                </a:solidFill>
                <a:latin typeface="Univers"/>
              </a:rPr>
              <a:t>P</a:t>
            </a:r>
            <a:r>
              <a:rPr lang="en-SG" sz="1200" b="0" dirty="0">
                <a:solidFill>
                  <a:srgbClr val="6E6A85"/>
                </a:solidFill>
                <a:latin typeface="Univers"/>
              </a:rPr>
              <a:t>rocessing</a:t>
            </a:r>
            <a:endParaRPr sz="1200" b="0" dirty="0">
              <a:solidFill>
                <a:srgbClr val="6E6A85"/>
              </a:solidFill>
              <a:latin typeface="Univer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1248" y="2743200"/>
            <a:ext cx="3383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91056" y="2862072"/>
            <a:ext cx="25603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1150" b="1" dirty="0">
                <a:solidFill>
                  <a:srgbClr val="10013F"/>
                </a:solidFill>
                <a:latin typeface="Univers"/>
              </a:rPr>
              <a:t>S</a:t>
            </a:r>
            <a:r>
              <a:rPr sz="1150" b="1" dirty="0" err="1">
                <a:solidFill>
                  <a:srgbClr val="10013F"/>
                </a:solidFill>
                <a:latin typeface="Univers"/>
              </a:rPr>
              <a:t>cikit</a:t>
            </a:r>
            <a:r>
              <a:rPr sz="1150" b="1" dirty="0">
                <a:solidFill>
                  <a:srgbClr val="10013F"/>
                </a:solidFill>
                <a:latin typeface="Univers"/>
              </a:rPr>
              <a:t>-learn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3182112"/>
            <a:ext cx="2560320" cy="175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1200" b="0" dirty="0">
                <a:solidFill>
                  <a:srgbClr val="6E6A85"/>
                </a:solidFill>
                <a:latin typeface="Univers"/>
              </a:rPr>
              <a:t>Model </a:t>
            </a:r>
            <a:r>
              <a:rPr lang="en-SG" sz="1200" b="0" dirty="0">
                <a:solidFill>
                  <a:srgbClr val="6E6A85"/>
                </a:solidFill>
                <a:latin typeface="Univers"/>
              </a:rPr>
              <a:t>T</a:t>
            </a:r>
            <a:r>
              <a:rPr sz="1200" b="0" dirty="0">
                <a:solidFill>
                  <a:srgbClr val="6E6A85"/>
                </a:solidFill>
                <a:latin typeface="Univers"/>
              </a:rPr>
              <a:t>raining &amp; </a:t>
            </a:r>
            <a:r>
              <a:rPr lang="en-SG" sz="1200" b="0" dirty="0">
                <a:solidFill>
                  <a:srgbClr val="6E6A85"/>
                </a:solidFill>
                <a:latin typeface="Univers"/>
              </a:rPr>
              <a:t>S</a:t>
            </a:r>
            <a:r>
              <a:rPr sz="1200" b="0" dirty="0">
                <a:solidFill>
                  <a:srgbClr val="6E6A85"/>
                </a:solidFill>
                <a:latin typeface="Univers"/>
              </a:rPr>
              <a:t>election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4360" y="2769322"/>
            <a:ext cx="3383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1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7216" y="286207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10013F"/>
                </a:solidFill>
                <a:latin typeface="Univers"/>
              </a:rPr>
              <a:t>Parquet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182112"/>
            <a:ext cx="2560320" cy="175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1200" b="0" dirty="0">
                <a:solidFill>
                  <a:srgbClr val="6E6A85"/>
                </a:solidFill>
                <a:latin typeface="Univers"/>
              </a:rPr>
              <a:t>Columnar </a:t>
            </a:r>
            <a:r>
              <a:rPr lang="en-SG" sz="1200" b="0" dirty="0">
                <a:solidFill>
                  <a:srgbClr val="6E6A85"/>
                </a:solidFill>
                <a:latin typeface="Univers"/>
              </a:rPr>
              <a:t>Storage</a:t>
            </a:r>
            <a:endParaRPr sz="1200" b="0" dirty="0">
              <a:solidFill>
                <a:srgbClr val="6E6A85"/>
              </a:solidFill>
              <a:latin typeface="Univer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73568" y="2743200"/>
            <a:ext cx="3383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0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23376" y="286207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10013F"/>
                </a:solidFill>
                <a:latin typeface="Univers"/>
              </a:rPr>
              <a:t>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376" y="3182112"/>
            <a:ext cx="2560320" cy="175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1200" b="0" dirty="0">
                <a:solidFill>
                  <a:srgbClr val="6E6A85"/>
                </a:solidFill>
                <a:latin typeface="Univers"/>
              </a:rPr>
              <a:t>Version </a:t>
            </a:r>
            <a:r>
              <a:rPr lang="en-SG" sz="1200" b="0" dirty="0">
                <a:solidFill>
                  <a:srgbClr val="6E6A85"/>
                </a:solidFill>
                <a:latin typeface="Univers"/>
              </a:rPr>
              <a:t>C</a:t>
            </a:r>
            <a:r>
              <a:rPr sz="1200" b="0" dirty="0" err="1">
                <a:solidFill>
                  <a:srgbClr val="6E6A85"/>
                </a:solidFill>
                <a:latin typeface="Univers"/>
              </a:rPr>
              <a:t>ontrol</a:t>
            </a:r>
            <a:r>
              <a:rPr sz="1200" b="0" dirty="0">
                <a:solidFill>
                  <a:srgbClr val="6E6A85"/>
                </a:solidFill>
                <a:latin typeface="Univers"/>
              </a:rPr>
              <a:t> &amp; </a:t>
            </a:r>
            <a:r>
              <a:rPr lang="en-SG" sz="1200" b="0" dirty="0">
                <a:solidFill>
                  <a:srgbClr val="6E6A85"/>
                </a:solidFill>
                <a:latin typeface="Univers"/>
              </a:rPr>
              <a:t>G</a:t>
            </a:r>
            <a:r>
              <a:rPr sz="1200" b="0" dirty="0" err="1">
                <a:solidFill>
                  <a:srgbClr val="6E6A85"/>
                </a:solidFill>
                <a:latin typeface="Univers"/>
              </a:rPr>
              <a:t>overnance</a:t>
            </a:r>
            <a:endParaRPr sz="1200" b="0" dirty="0">
              <a:solidFill>
                <a:srgbClr val="6E6A85"/>
              </a:solidFill>
              <a:latin typeface="Univer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8" y="3840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0013F"/>
                </a:solidFill>
                <a:latin typeface="Univers"/>
              </a:rPr>
              <a:t>Pipeline DAG (one run per monthly snapshot)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224528"/>
            <a:ext cx="1261872" cy="475488"/>
          </a:xfrm>
          <a:prstGeom prst="roundRect">
            <a:avLst/>
          </a:prstGeom>
          <a:solidFill>
            <a:srgbClr val="243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Univers"/>
              </a:rPr>
              <a:t>bronze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03120" y="4462272"/>
            <a:ext cx="91440" cy="0"/>
          </a:xfrm>
          <a:prstGeom prst="line">
            <a:avLst/>
          </a:prstGeom>
          <a:ln w="1270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203704" y="4224528"/>
            <a:ext cx="1261872" cy="475488"/>
          </a:xfrm>
          <a:prstGeom prst="roundRect">
            <a:avLst/>
          </a:prstGeom>
          <a:solidFill>
            <a:srgbClr val="243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Univers"/>
              </a:rPr>
              <a:t>silver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465576" y="4462272"/>
            <a:ext cx="91440" cy="0"/>
          </a:xfrm>
          <a:prstGeom prst="line">
            <a:avLst/>
          </a:prstGeom>
          <a:ln w="1270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566160" y="4224528"/>
            <a:ext cx="1261872" cy="475488"/>
          </a:xfrm>
          <a:prstGeom prst="roundRect">
            <a:avLst/>
          </a:prstGeom>
          <a:solidFill>
            <a:srgbClr val="243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Univers"/>
              </a:rPr>
              <a:t>gold:label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28032" y="4462272"/>
            <a:ext cx="91440" cy="0"/>
          </a:xfrm>
          <a:prstGeom prst="line">
            <a:avLst/>
          </a:prstGeom>
          <a:ln w="1270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28616" y="4224528"/>
            <a:ext cx="1261872" cy="475488"/>
          </a:xfrm>
          <a:prstGeom prst="roundRect">
            <a:avLst/>
          </a:prstGeom>
          <a:solidFill>
            <a:srgbClr val="243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Univers"/>
              </a:rPr>
              <a:t>gold:feature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190488" y="4462272"/>
            <a:ext cx="91440" cy="0"/>
          </a:xfrm>
          <a:prstGeom prst="line">
            <a:avLst/>
          </a:prstGeom>
          <a:ln w="1270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91072" y="4224528"/>
            <a:ext cx="1261872" cy="475488"/>
          </a:xfrm>
          <a:prstGeom prst="roundRect">
            <a:avLst/>
          </a:prstGeom>
          <a:solidFill>
            <a:srgbClr val="243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Univers"/>
              </a:rPr>
              <a:t>training_set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52944" y="4462272"/>
            <a:ext cx="91440" cy="0"/>
          </a:xfrm>
          <a:prstGeom prst="line">
            <a:avLst/>
          </a:prstGeom>
          <a:ln w="1270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653528" y="4224528"/>
            <a:ext cx="1261872" cy="475488"/>
          </a:xfrm>
          <a:prstGeom prst="roundRect">
            <a:avLst/>
          </a:prstGeom>
          <a:solidFill>
            <a:srgbClr val="81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Univers"/>
              </a:rPr>
              <a:t>train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15400" y="4462272"/>
            <a:ext cx="91440" cy="0"/>
          </a:xfrm>
          <a:prstGeom prst="line">
            <a:avLst/>
          </a:prstGeom>
          <a:ln w="1270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15984" y="4224528"/>
            <a:ext cx="1261872" cy="475488"/>
          </a:xfrm>
          <a:prstGeom prst="roundRect">
            <a:avLst/>
          </a:prstGeom>
          <a:solidFill>
            <a:srgbClr val="1A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Univers"/>
              </a:rPr>
              <a:t>infer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277856" y="4462272"/>
            <a:ext cx="91440" cy="0"/>
          </a:xfrm>
          <a:prstGeom prst="line">
            <a:avLst/>
          </a:prstGeom>
          <a:ln w="12700">
            <a:solidFill>
              <a:srgbClr val="6E6A8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378440" y="4224528"/>
            <a:ext cx="1261872" cy="475488"/>
          </a:xfrm>
          <a:prstGeom prst="roundRect">
            <a:avLst/>
          </a:prstGeom>
          <a:solidFill>
            <a:srgbClr val="FF1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Univers"/>
              </a:rPr>
              <a:t>monitor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" y="5029200"/>
            <a:ext cx="10515600" cy="1143000"/>
          </a:xfrm>
          <a:prstGeom prst="roundRect">
            <a:avLst/>
          </a:prstGeom>
          <a:solidFill>
            <a:srgbClr val="100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1560" y="5138928"/>
            <a:ext cx="10104120" cy="657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FF9022"/>
                </a:solidFill>
                <a:latin typeface="Univers"/>
              </a:rPr>
              <a:t>Key takeaways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SG" sz="1150" dirty="0">
                <a:solidFill>
                  <a:srgbClr val="CAC2F0"/>
                </a:solidFill>
                <a:latin typeface="Univers"/>
              </a:rPr>
              <a:t>Medallion Architecture </a:t>
            </a:r>
            <a:r>
              <a:rPr sz="1150" dirty="0">
                <a:solidFill>
                  <a:srgbClr val="CAC2F0"/>
                </a:solidFill>
                <a:latin typeface="Univers"/>
              </a:rPr>
              <a:t>·  </a:t>
            </a:r>
            <a:r>
              <a:rPr lang="en-SG" sz="1150" dirty="0">
                <a:solidFill>
                  <a:srgbClr val="CAC2F0"/>
                </a:solidFill>
                <a:latin typeface="Univers"/>
              </a:rPr>
              <a:t>R</a:t>
            </a:r>
            <a:r>
              <a:rPr sz="1150" dirty="0" err="1">
                <a:solidFill>
                  <a:srgbClr val="CAC2F0"/>
                </a:solidFill>
                <a:latin typeface="Univers"/>
              </a:rPr>
              <a:t>eproducible</a:t>
            </a:r>
            <a:r>
              <a:rPr sz="1150" dirty="0">
                <a:solidFill>
                  <a:srgbClr val="CAC2F0"/>
                </a:solidFill>
                <a:latin typeface="Univers"/>
              </a:rPr>
              <a:t> (versioned model bank)  ·  </a:t>
            </a:r>
            <a:r>
              <a:rPr lang="en-SG" sz="1150" dirty="0">
                <a:solidFill>
                  <a:srgbClr val="CAC2F0"/>
                </a:solidFill>
                <a:latin typeface="Univers"/>
              </a:rPr>
              <a:t>M</a:t>
            </a:r>
            <a:r>
              <a:rPr sz="1150" dirty="0" err="1">
                <a:solidFill>
                  <a:srgbClr val="CAC2F0"/>
                </a:solidFill>
                <a:latin typeface="Univers"/>
              </a:rPr>
              <a:t>onitored</a:t>
            </a:r>
            <a:r>
              <a:rPr sz="1150" dirty="0">
                <a:solidFill>
                  <a:srgbClr val="CAC2F0"/>
                </a:solidFill>
                <a:latin typeface="Univers"/>
              </a:rPr>
              <a:t> (performance + stability)  ·  </a:t>
            </a:r>
            <a:r>
              <a:rPr lang="en-SG" sz="1150" dirty="0">
                <a:solidFill>
                  <a:srgbClr val="CAC2F0"/>
                </a:solidFill>
                <a:latin typeface="Univers"/>
              </a:rPr>
              <a:t>G</a:t>
            </a:r>
            <a:r>
              <a:rPr sz="1150" dirty="0" err="1">
                <a:solidFill>
                  <a:srgbClr val="CAC2F0"/>
                </a:solidFill>
                <a:latin typeface="Univers"/>
              </a:rPr>
              <a:t>overned</a:t>
            </a:r>
            <a:r>
              <a:rPr sz="1150" dirty="0">
                <a:solidFill>
                  <a:srgbClr val="CAC2F0"/>
                </a:solidFill>
                <a:latin typeface="Univers"/>
              </a:rPr>
              <a:t> (triggers + SOP)</a:t>
            </a:r>
          </a:p>
          <a:p>
            <a:r>
              <a:rPr lang="en-SG" sz="1150" dirty="0">
                <a:solidFill>
                  <a:srgbClr val="CAC2F0"/>
                </a:solidFill>
                <a:latin typeface="Univers"/>
              </a:rPr>
              <a:t>Airflow Orchestration</a:t>
            </a:r>
            <a:endParaRPr sz="1150" dirty="0">
              <a:solidFill>
                <a:srgbClr val="CAC2F0"/>
              </a:solidFill>
              <a:latin typeface="Univers"/>
            </a:endParaRPr>
          </a:p>
        </p:txBody>
      </p:sp>
      <p:pic>
        <p:nvPicPr>
          <p:cNvPr id="47" name="Picture 46" descr="The image depicts a blue whale icon with a boat in front of a shipping container stack.&#10;&#10;AI-generated content may be incorrect.">
            <a:extLst>
              <a:ext uri="{FF2B5EF4-FFF2-40B4-BE49-F238E27FC236}">
                <a16:creationId xmlns:a16="http://schemas.microsoft.com/office/drawing/2014/main" id="{A45BBA98-7DFC-6A42-586C-6E7ABABAB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889" y="2007818"/>
            <a:ext cx="380527" cy="380527"/>
          </a:xfrm>
          <a:prstGeom prst="rect">
            <a:avLst/>
          </a:prstGeom>
        </p:spPr>
      </p:pic>
      <p:pic>
        <p:nvPicPr>
          <p:cNvPr id="48" name="Picture 47" descr="What's New in SAS Airflow Provider">
            <a:extLst>
              <a:ext uri="{FF2B5EF4-FFF2-40B4-BE49-F238E27FC236}">
                <a16:creationId xmlns:a16="http://schemas.microsoft.com/office/drawing/2014/main" id="{6CF45D4A-0D02-532C-F33E-96249B3B858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96302" y="2024980"/>
            <a:ext cx="884084" cy="387373"/>
          </a:xfrm>
          <a:prstGeom prst="rect">
            <a:avLst/>
          </a:prstGeom>
        </p:spPr>
      </p:pic>
      <p:pic>
        <p:nvPicPr>
          <p:cNvPr id="49" name="Picture 48" descr="pyspark logo from techicons.dev">
            <a:extLst>
              <a:ext uri="{FF2B5EF4-FFF2-40B4-BE49-F238E27FC236}">
                <a16:creationId xmlns:a16="http://schemas.microsoft.com/office/drawing/2014/main" id="{80693C0C-8EB5-2B66-76AB-5054CB596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120" y="2006761"/>
            <a:ext cx="434687" cy="434687"/>
          </a:xfrm>
          <a:prstGeom prst="rect">
            <a:avLst/>
          </a:prstGeom>
        </p:spPr>
      </p:pic>
      <p:pic>
        <p:nvPicPr>
          <p:cNvPr id="50" name="Picture 49" descr="scikit learn logo from techicons.dev">
            <a:extLst>
              <a:ext uri="{FF2B5EF4-FFF2-40B4-BE49-F238E27FC236}">
                <a16:creationId xmlns:a16="http://schemas.microsoft.com/office/drawing/2014/main" id="{4136EA80-EDDC-9313-F579-AAEAE0A85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82" y="2928815"/>
            <a:ext cx="466892" cy="466892"/>
          </a:xfrm>
          <a:prstGeom prst="rect">
            <a:avLst/>
          </a:prstGeom>
        </p:spPr>
      </p:pic>
      <p:pic>
        <p:nvPicPr>
          <p:cNvPr id="51" name="Picture 50" descr="Parquet logo by David DeSandro on Dribbble">
            <a:extLst>
              <a:ext uri="{FF2B5EF4-FFF2-40B4-BE49-F238E27FC236}">
                <a16:creationId xmlns:a16="http://schemas.microsoft.com/office/drawing/2014/main" id="{D54DF7BC-1C3B-D4DC-B016-BD1F530B4E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3908" y="2909557"/>
            <a:ext cx="701256" cy="496583"/>
          </a:xfrm>
          <a:prstGeom prst="rect">
            <a:avLst/>
          </a:prstGeom>
        </p:spPr>
      </p:pic>
      <p:pic>
        <p:nvPicPr>
          <p:cNvPr id="52" name="Picture 51" descr="File:Octicons-mark-github.svg - Wikimedia Commons">
            <a:extLst>
              <a:ext uri="{FF2B5EF4-FFF2-40B4-BE49-F238E27FC236}">
                <a16:creationId xmlns:a16="http://schemas.microsoft.com/office/drawing/2014/main" id="{B5670680-98BB-AC82-528F-DE8949C91E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865" y="2906840"/>
            <a:ext cx="496583" cy="4965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71ded03-1266-4a3f-b88d-292fdb86a3c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E96BA03D53143BB6CF813878DCB75" ma:contentTypeVersion="9" ma:contentTypeDescription="Create a new document." ma:contentTypeScope="" ma:versionID="ee5f980aab818c03254b1c8cf40eb253">
  <xsd:schema xmlns:xsd="http://www.w3.org/2001/XMLSchema" xmlns:xs="http://www.w3.org/2001/XMLSchema" xmlns:p="http://schemas.microsoft.com/office/2006/metadata/properties" xmlns:ns3="571ded03-1266-4a3f-b88d-292fdb86a3c4" targetNamespace="http://schemas.microsoft.com/office/2006/metadata/properties" ma:root="true" ma:fieldsID="a558faf2dcb1af511c5f82cbd268a1d8" ns3:_="">
    <xsd:import namespace="571ded03-1266-4a3f-b88d-292fdb86a3c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ded03-1266-4a3f-b88d-292fdb86a3c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025B34-BD2B-4F65-80AF-217925182E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5B3D43-99F7-47DF-90D6-3E3028F5936C}">
  <ds:schemaRefs>
    <ds:schemaRef ds:uri="http://purl.org/dc/terms/"/>
    <ds:schemaRef ds:uri="http://schemas.microsoft.com/office/2006/metadata/properties"/>
    <ds:schemaRef ds:uri="http://purl.org/dc/elements/1.1/"/>
    <ds:schemaRef ds:uri="http://purl.org/dc/dcmitype/"/>
    <ds:schemaRef ds:uri="571ded03-1266-4a3f-b88d-292fdb86a3c4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62497E3C-4DB8-4747-9532-F99933632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1ded03-1266-4a3f-b88d-292fdb86a3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Gradient design</Template>
  <TotalTime>226</TotalTime>
  <Words>651</Words>
  <Application>Microsoft Office PowerPoint</Application>
  <PresentationFormat>Widescreen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Univers (Headings)</vt:lpstr>
      <vt:lpstr>Arial</vt:lpstr>
      <vt:lpstr>Calibri</vt:lpstr>
      <vt:lpstr>Univers</vt:lpstr>
      <vt:lpstr>GradientVTI</vt:lpstr>
      <vt:lpstr>Machine Learning Pipeline for Loan Default Prediction</vt:lpstr>
      <vt:lpstr>Business Problem, Objective &amp; Scope</vt:lpstr>
      <vt:lpstr>End-to-end ML Pipeline Architecture</vt:lpstr>
      <vt:lpstr>Dataset Split Design</vt:lpstr>
      <vt:lpstr>Model Training &amp; Selection</vt:lpstr>
      <vt:lpstr>Inference &amp; Model Bank</vt:lpstr>
      <vt:lpstr>Monitoring  -  Model Performance Over Time</vt:lpstr>
      <vt:lpstr>Monitoring  -  Stability &amp; Drift</vt:lpstr>
      <vt:lpstr>Model Governance, Refresh SOP</vt:lpstr>
      <vt:lpstr>Technical Implementation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Pipeline for Loan Default Prediction</dc:title>
  <dc:subject>CS611 Assignment 2</dc:subject>
  <dc:creator>Jason</dc:creator>
  <dc:description/>
  <cp:lastModifiedBy>Jason SUN Jie-sheng</cp:lastModifiedBy>
  <cp:revision>3</cp:revision>
  <dcterms:created xsi:type="dcterms:W3CDTF">2026-06-24T08:06:14Z</dcterms:created>
  <dcterms:modified xsi:type="dcterms:W3CDTF">2026-06-28T06:31:24Z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0x010100D14E96BA03D53143BB6CF813878DCB75</vt:lpwstr>
  </property>
</Properties>
</file>